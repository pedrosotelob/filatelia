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1F1F"/>
        </a:solidFill>
        <a:effectLst/>
      </p:bgPr>
    </p:bg>
    <p:spTree>
      <p:nvGrpSpPr>
        <p:cNvPr id="1" name=""/>
        <p:cNvGrpSpPr/>
        <p:nvPr/>
      </p:nvGrpSpPr>
      <p:grpSpPr/>
      <p:pic>
        <p:nvPicPr>
          <p:cNvPr id="2" name="Picture 1" descr="dfe2ef5c-7790-4396-b5a9-4fbc9f8cf5ad.png"/>
          <p:cNvPicPr>
            <a:picLocks noChangeAspect="1"/>
          </p:cNvPicPr>
          <p:nvPr/>
        </p:nvPicPr>
        <p:blipFill>
          <a:blip r:embed="rId2"/>
          <a:stretch>
            <a:fillRect/>
          </a:stretch>
        </p:blipFill>
        <p:spPr>
          <a:xfrm>
            <a:off x="609600" y="1447800"/>
            <a:ext cx="4876800" cy="3657600"/>
          </a:xfrm>
          <a:prstGeom prst="rect">
            <a:avLst/>
          </a:prstGeom>
        </p:spPr>
      </p:pic>
      <p:sp>
        <p:nvSpPr>
          <p:cNvPr id="3" name="TextBox 2"/>
          <p:cNvSpPr txBox="1"/>
          <p:nvPr/>
        </p:nvSpPr>
        <p:spPr>
          <a:xfrm>
            <a:off x="6705600" y="2184796"/>
            <a:ext cx="489585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3600" b="1">
                <a:solidFill>
                  <a:srgbClr val="F5F547"/>
                </a:solidFill>
                <a:latin typeface="Playfair Display"/>
              </a:defRPr>
            </a:pPr>
            <a:r>
              <a:rPr i="0" sz="3600" b="1">
                <a:solidFill>
                  <a:srgbClr val="F5F547"/>
                </a:solidFill>
                <a:latin typeface="Playfair Display"/>
              </a:rPr>
              <a:t>Subconjunto de 83 (2 items)</a:t>
            </a:r>
          </a:p>
        </p:txBody>
      </p:sp>
      <p:sp>
        <p:nvSpPr>
          <p:cNvPr id="4" name="TextBox 3"/>
          <p:cNvSpPr txBox="1"/>
          <p:nvPr/>
        </p:nvSpPr>
        <p:spPr>
          <a:xfrm>
            <a:off x="6705600" y="3784996"/>
            <a:ext cx="4895850" cy="27860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F5F547"/>
                </a:solidFill>
                <a:latin typeface="Playfair Display"/>
              </a:defRPr>
            </a:pPr>
            <a:r>
              <a:rPr i="0" sz="1350" b="0">
                <a:solidFill>
                  <a:srgbClr val="F5F547"/>
                </a:solidFill>
                <a:latin typeface="Playfair Display"/>
              </a:rPr>
              <a:t>Creado desde sub-busqueda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F1F1F"/>
        </a:solidFill>
        <a:effectLst/>
      </p:bgPr>
    </p:bg>
    <p:spTree>
      <p:nvGrpSpPr>
        <p:cNvPr id="1" name=""/>
        <p:cNvGrpSpPr/>
        <p:nvPr/>
      </p:nvGrpSpPr>
      <p:grpSpPr/>
      <p:pic>
        <p:nvPicPr>
          <p:cNvPr id="2" name="Picture 1" descr="dfe2ef5c-7790-4396-b5a9-4fbc9f8cf5ad.png"/>
          <p:cNvPicPr>
            <a:picLocks noChangeAspect="1"/>
          </p:cNvPicPr>
          <p:nvPr/>
        </p:nvPicPr>
        <p:blipFill>
          <a:blip r:embed="rId2"/>
          <a:stretch>
            <a:fillRect/>
          </a:stretch>
        </p:blipFill>
        <p:spPr>
          <a:xfrm>
            <a:off x="609600" y="1447800"/>
            <a:ext cx="4876800" cy="3657600"/>
          </a:xfrm>
          <a:prstGeom prst="rect">
            <a:avLst/>
          </a:prstGeom>
        </p:spPr>
      </p:pic>
      <p:sp>
        <p:nvSpPr>
          <p:cNvPr id="3" name="TextBox 2"/>
          <p:cNvSpPr txBox="1"/>
          <p:nvPr/>
        </p:nvSpPr>
        <p:spPr>
          <a:xfrm>
            <a:off x="6705600" y="3088481"/>
            <a:ext cx="4895850" cy="1671637"/>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F5F547"/>
                </a:solidFill>
                <a:latin typeface="Playfair Display"/>
              </a:defRPr>
            </a:pPr>
            <a:r>
              <a:rPr i="0" sz="1350" b="0">
                <a:solidFill>
                  <a:srgbClr val="F5F547"/>
                </a:solidFill>
                <a:latin typeface="Playfair Display"/>
              </a:rPr>
              <a:t>Casi cerrando el siglo, “Fauna 1995 Australia” desplaza la mirada hacia los animales emblemáticos del continente, presentados en serie: canguros y otras especies autóctonas que recuerdan la singularidad ecológica australiana y el esfuerzo por protegerla. Juntas, las tres piezas proponen un reco....</a:t>
            </a:r>
          </a:p>
        </p:txBody>
      </p:sp>
      <p:sp>
        <p:nvSpPr>
          <p:cNvPr id="4" name="TextBox 3"/>
          <p:cNvSpPr txBox="1"/>
          <p:nvPr/>
        </p:nvSpPr>
        <p:spPr>
          <a:xfrm>
            <a:off x="6705600" y="1488281"/>
            <a:ext cx="489585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3600" b="1">
                <a:solidFill>
                  <a:srgbClr val="F5F547"/>
                </a:solidFill>
                <a:latin typeface="Playfair Display"/>
              </a:defRPr>
            </a:pPr>
            <a:r>
              <a:rPr i="0" sz="3600" b="1">
                <a:solidFill>
                  <a:srgbClr val="F5F547"/>
                </a:solidFill>
                <a:latin typeface="Playfair Display"/>
              </a:rPr>
              <a:t>Historia de la colección (I)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1F1F"/>
        </a:solidFill>
        <a:effectLst/>
      </p:bgPr>
    </p:bg>
    <p:spTree>
      <p:nvGrpSpPr>
        <p:cNvPr id="1" name=""/>
        <p:cNvGrpSpPr/>
        <p:nvPr/>
      </p:nvGrpSpPr>
      <p:grpSpPr/>
      <p:pic>
        <p:nvPicPr>
          <p:cNvPr id="2" name="Picture 1" descr="0f0ad59e-355b-4e70-b61d-c8e553da89c4.png"/>
          <p:cNvPicPr>
            <a:picLocks noChangeAspect="1"/>
          </p:cNvPicPr>
          <p:nvPr/>
        </p:nvPicPr>
        <p:blipFill>
          <a:blip r:embed="rId2"/>
          <a:stretch>
            <a:fillRect/>
          </a:stretch>
        </p:blipFill>
        <p:spPr>
          <a:xfrm>
            <a:off x="609600" y="1447800"/>
            <a:ext cx="4876800" cy="3657600"/>
          </a:xfrm>
          <a:prstGeom prst="rect">
            <a:avLst/>
          </a:prstGeom>
        </p:spPr>
      </p:pic>
      <p:sp>
        <p:nvSpPr>
          <p:cNvPr id="3" name="TextBox 2"/>
          <p:cNvSpPr txBox="1"/>
          <p:nvPr/>
        </p:nvSpPr>
        <p:spPr>
          <a:xfrm>
            <a:off x="6705600" y="3227784"/>
            <a:ext cx="4895850" cy="1393031"/>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F5F547"/>
                </a:solidFill>
                <a:latin typeface="Playfair Display"/>
              </a:defRPr>
            </a:pPr>
            <a:r>
              <a:rPr i="0" sz="1350" b="0">
                <a:solidFill>
                  <a:srgbClr val="F5F547"/>
                </a:solidFill>
                <a:latin typeface="Playfair Display"/>
              </a:rPr>
              <a:t>La “Rosa Peruana 1955” se sitúa en un contexto de modernización económica y reafirmación de la soberan En particular, destacan las piezas "Rosa Peruana 1955" y "Flor roja 1970 México", que permiten seguir la evolución de los discursos visuales y políticos.</a:t>
            </a:r>
          </a:p>
        </p:txBody>
      </p:sp>
      <p:sp>
        <p:nvSpPr>
          <p:cNvPr id="4" name="TextBox 3"/>
          <p:cNvSpPr txBox="1"/>
          <p:nvPr/>
        </p:nvSpPr>
        <p:spPr>
          <a:xfrm>
            <a:off x="6705600" y="1627584"/>
            <a:ext cx="489585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3600" b="1">
                <a:solidFill>
                  <a:srgbClr val="F5F547"/>
                </a:solidFill>
                <a:latin typeface="Playfair Display"/>
              </a:defRPr>
            </a:pPr>
            <a:r>
              <a:rPr i="0" sz="3600" b="1">
                <a:solidFill>
                  <a:srgbClr val="F5F547"/>
                </a:solidFill>
                <a:latin typeface="Playfair Display"/>
              </a:rPr>
              <a:t>Historia de la colección (II)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1F1F"/>
        </a:solidFill>
        <a:effectLst/>
      </p:bgPr>
    </p:bg>
    <p:spTree>
      <p:nvGrpSpPr>
        <p:cNvPr id="1" name=""/>
        <p:cNvGrpSpPr/>
        <p:nvPr/>
      </p:nvGrpSpPr>
      <p:grpSpPr/>
      <p:pic>
        <p:nvPicPr>
          <p:cNvPr id="2" name="Picture 1" descr="dfe2ef5c-7790-4396-b5a9-4fbc9f8cf5ad.png"/>
          <p:cNvPicPr>
            <a:picLocks noChangeAspect="1"/>
          </p:cNvPicPr>
          <p:nvPr/>
        </p:nvPicPr>
        <p:blipFill>
          <a:blip r:embed="rId2"/>
          <a:stretch>
            <a:fillRect/>
          </a:stretch>
        </p:blipFill>
        <p:spPr>
          <a:xfrm>
            <a:off x="609600" y="1447800"/>
            <a:ext cx="4876800" cy="3657600"/>
          </a:xfrm>
          <a:prstGeom prst="rect">
            <a:avLst/>
          </a:prstGeom>
        </p:spPr>
      </p:pic>
      <p:sp>
        <p:nvSpPr>
          <p:cNvPr id="3" name="TextBox 2"/>
          <p:cNvSpPr txBox="1"/>
          <p:nvPr/>
        </p:nvSpPr>
        <p:spPr>
          <a:xfrm>
            <a:off x="6705600" y="2802731"/>
            <a:ext cx="4895850" cy="1671637"/>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F5F547"/>
                </a:solidFill>
                <a:latin typeface="Playfair Display"/>
              </a:defRPr>
            </a:pPr>
            <a:r>
              <a:rPr i="0" sz="1350" b="0">
                <a:solidFill>
                  <a:srgbClr val="F5F547"/>
                </a:solidFill>
                <a:latin typeface="Playfair Display"/>
              </a:rPr>
              <a:t>Emitido en Lima a mediados de los años 50, este sello celebra la delicadeza de la rosa andina. Fue adquirido por un coleccionista de barrio antiguo que lo conservó en hojas de cartulina durante décadas. El matiz rosado recuerda las primeras impresiones offset de la época, cuando las tiradas eran...</a:t>
            </a:r>
          </a:p>
        </p:txBody>
      </p:sp>
      <p:sp>
        <p:nvSpPr>
          <p:cNvPr id="4" name="TextBox 3"/>
          <p:cNvSpPr txBox="1"/>
          <p:nvPr/>
        </p:nvSpPr>
        <p:spPr>
          <a:xfrm>
            <a:off x="6705600" y="1774031"/>
            <a:ext cx="489585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3600" b="1">
                <a:solidFill>
                  <a:srgbClr val="F5F547"/>
                </a:solidFill>
                <a:latin typeface="Playfair Display"/>
              </a:defRPr>
            </a:pPr>
            <a:r>
              <a:rPr i="0" sz="3600" b="1">
                <a:solidFill>
                  <a:srgbClr val="F5F547"/>
                </a:solidFill>
                <a:latin typeface="Playfair Display"/>
              </a:rPr>
              <a:t>Rosa Peruana 1955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1F1F"/>
        </a:solidFill>
        <a:effectLst/>
      </p:bgPr>
    </p:bg>
    <p:spTree>
      <p:nvGrpSpPr>
        <p:cNvPr id="1" name=""/>
        <p:cNvGrpSpPr/>
        <p:nvPr/>
      </p:nvGrpSpPr>
      <p:grpSpPr/>
      <p:pic>
        <p:nvPicPr>
          <p:cNvPr id="2" name="Picture 1" descr="0f0ad59e-355b-4e70-b61d-c8e553da89c4.png"/>
          <p:cNvPicPr>
            <a:picLocks noChangeAspect="1"/>
          </p:cNvPicPr>
          <p:nvPr/>
        </p:nvPicPr>
        <p:blipFill>
          <a:blip r:embed="rId2"/>
          <a:stretch>
            <a:fillRect/>
          </a:stretch>
        </p:blipFill>
        <p:spPr>
          <a:xfrm>
            <a:off x="609600" y="1447800"/>
            <a:ext cx="4876800" cy="3657600"/>
          </a:xfrm>
          <a:prstGeom prst="rect">
            <a:avLst/>
          </a:prstGeom>
        </p:spPr>
      </p:pic>
      <p:sp>
        <p:nvSpPr>
          <p:cNvPr id="3" name="TextBox 2"/>
          <p:cNvSpPr txBox="1"/>
          <p:nvPr/>
        </p:nvSpPr>
        <p:spPr>
          <a:xfrm>
            <a:off x="6705600" y="3081337"/>
            <a:ext cx="4895850" cy="11144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F5F547"/>
                </a:solidFill>
                <a:latin typeface="Playfair Display"/>
              </a:defRPr>
            </a:pPr>
            <a:r>
              <a:rPr i="0" sz="1350" b="0">
                <a:solidFill>
                  <a:srgbClr val="F5F547"/>
                </a:solidFill>
                <a:latin typeface="Playfair Display"/>
              </a:rPr>
              <a:t>Emisión floral de 1970. La tradición cuenta que se vendía frente a un jardín botánico en Ciudad de México, donde los estudiantes los coleccionaban para marcar sus cuadernos. El pigmento mantiene un rojo intenso pese al paso del tiempo.</a:t>
            </a:r>
          </a:p>
        </p:txBody>
      </p:sp>
      <p:sp>
        <p:nvSpPr>
          <p:cNvPr id="4" name="TextBox 3"/>
          <p:cNvSpPr txBox="1"/>
          <p:nvPr/>
        </p:nvSpPr>
        <p:spPr>
          <a:xfrm>
            <a:off x="6705600" y="2052637"/>
            <a:ext cx="489585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3600" b="1">
                <a:solidFill>
                  <a:srgbClr val="F5F547"/>
                </a:solidFill>
                <a:latin typeface="Playfair Display"/>
              </a:defRPr>
            </a:pPr>
            <a:r>
              <a:rPr i="0" sz="3600" b="1">
                <a:solidFill>
                  <a:srgbClr val="F5F547"/>
                </a:solidFill>
                <a:latin typeface="Playfair Display"/>
              </a:rPr>
              <a:t>Flor roja 1970 México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1F1F"/>
        </a:solidFill>
        <a:effectLst/>
      </p:bgPr>
    </p:bg>
    <p:spTree>
      <p:nvGrpSpPr>
        <p:cNvPr id="1" name=""/>
        <p:cNvGrpSpPr/>
        <p:nvPr/>
      </p:nvGrpSpPr>
      <p:grpSpPr/>
      <p:pic>
        <p:nvPicPr>
          <p:cNvPr id="2" name="Picture 1" descr="dfe2ef5c-7790-4396-b5a9-4fbc9f8cf5ad.png"/>
          <p:cNvPicPr>
            <a:picLocks noChangeAspect="1"/>
          </p:cNvPicPr>
          <p:nvPr/>
        </p:nvPicPr>
        <p:blipFill>
          <a:blip r:embed="rId2"/>
          <a:stretch>
            <a:fillRect/>
          </a:stretch>
        </p:blipFill>
        <p:spPr>
          <a:xfrm>
            <a:off x="609600" y="1447800"/>
            <a:ext cx="4876800" cy="3657600"/>
          </a:xfrm>
          <a:prstGeom prst="rect">
            <a:avLst/>
          </a:prstGeom>
        </p:spPr>
      </p:pic>
      <p:sp>
        <p:nvSpPr>
          <p:cNvPr id="3" name="TextBox 2"/>
          <p:cNvSpPr txBox="1"/>
          <p:nvPr/>
        </p:nvSpPr>
        <p:spPr>
          <a:xfrm>
            <a:off x="6705600" y="1488281"/>
            <a:ext cx="489585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0000"/>
              </a:lnSpc>
              <a:defRPr i="0" sz="3600" b="1">
                <a:solidFill>
                  <a:srgbClr val="F5F547"/>
                </a:solidFill>
                <a:latin typeface="Playfair Display"/>
              </a:defRPr>
            </a:pPr>
            <a:r>
              <a:rPr i="0" sz="3600" b="1">
                <a:solidFill>
                  <a:srgbClr val="F5F547"/>
                </a:solidFill>
                <a:latin typeface="Playfair Display"/>
              </a:rPr>
              <a:t>Comparación de piezas seleccio</a:t>
            </a:r>
          </a:p>
        </p:txBody>
      </p:sp>
      <p:sp>
        <p:nvSpPr>
          <p:cNvPr id="4" name="TextBox 3"/>
          <p:cNvSpPr txBox="1"/>
          <p:nvPr/>
        </p:nvSpPr>
        <p:spPr>
          <a:xfrm>
            <a:off x="6705600" y="3645693"/>
            <a:ext cx="4895850" cy="11144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F5F547"/>
                </a:solidFill>
                <a:latin typeface="Playfair Display"/>
              </a:defRPr>
            </a:pPr>
            <a:r>
              <a:rPr i="0" sz="1350" b="0">
                <a:solidFill>
                  <a:srgbClr val="F5F547"/>
                </a:solidFill>
                <a:latin typeface="Playfair Display"/>
              </a:rPr>
              <a:t>Ambas emisiones comparten la función de difundir una imagen oficial del Estado, pero difieren en el tratamiento visual (composición, color y jerarquía de símbolos) y en el momento políti...</a:t>
            </a:r>
          </a:p>
        </p:txBody>
      </p:sp>
      <p:sp>
        <p:nvSpPr>
          <p:cNvPr id="5" name="TextBox 4"/>
          <p:cNvSpPr txBox="1"/>
          <p:nvPr/>
        </p:nvSpPr>
        <p:spPr>
          <a:xfrm>
            <a:off x="6705600" y="3088481"/>
            <a:ext cx="4895850" cy="557212"/>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F5F547"/>
                </a:solidFill>
                <a:latin typeface="Playfair Display"/>
              </a:defRPr>
            </a:pPr>
            <a:r>
              <a:rPr i="0" sz="1350" b="0">
                <a:solidFill>
                  <a:srgbClr val="F5F547"/>
                </a:solidFill>
                <a:latin typeface="Playfair Display"/>
              </a:rPr>
              <a:t>Se presenta una comparación entre "Rosa Peruana 1955" (Peru, 1955) y "Flor roja 1970 México" (Mexico, 1970).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