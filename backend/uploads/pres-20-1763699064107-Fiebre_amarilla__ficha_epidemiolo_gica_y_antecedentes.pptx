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jp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jp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Relationship Id="rId5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jp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6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295399"/>
            <a:ext cx="6457788" cy="21907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D54F"/>
                </a:solidFill>
              </a:rPr>
              <a:t>Fiebre amarilla: ficha epidemiológica y antecedentes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3686175"/>
            <a:ext cx="645778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FFFFFF"/>
                </a:solidFill>
              </a:rPr>
              <a:t>Enfermedad metaxénica de importancia en salud pública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4686300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Tu nombre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4905375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5124449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Universidad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5343525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Fecha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5512" y="2466975"/>
            <a:ext cx="1914477" cy="962024"/>
          </a:xfrm>
          <a:prstGeom prst="roundRect">
            <a:avLst>
              <a:gd name="adj" fmla="val 792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7090540" y="2881947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82" y="2609850"/>
            <a:ext cx="159063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04"/>
              <a:t>  </a:t>
            </a:r>
            <a:r>
              <a:rPr sz="1076" b="1">
                <a:solidFill>
                  <a:srgbClr val="FFD54F"/>
                </a:solidFill>
              </a:rPr>
              <a:t>Vector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86482" y="26546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6482" y="2905124"/>
            <a:ext cx="159063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Aedes aegypti, Haemagogus, Sabethes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484" y="2466975"/>
            <a:ext cx="1914477" cy="962024"/>
          </a:xfrm>
          <a:prstGeom prst="roundRect">
            <a:avLst>
              <a:gd name="adj" fmla="val 7920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9195512" y="2881947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91455" y="2609850"/>
            <a:ext cx="159063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04"/>
              <a:t>  </a:t>
            </a:r>
            <a:r>
              <a:rPr sz="1076" b="1">
                <a:solidFill>
                  <a:srgbClr val="FFD54F"/>
                </a:solidFill>
              </a:rPr>
              <a:t>Agente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91455" y="264604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91455" y="2905124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Virus Flavivirus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5512" y="3619499"/>
            <a:ext cx="1914477" cy="771525"/>
          </a:xfrm>
          <a:prstGeom prst="roundRect">
            <a:avLst>
              <a:gd name="adj" fmla="val 9876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185790" y="3939221"/>
            <a:ext cx="771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6482" y="3762374"/>
            <a:ext cx="159063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04"/>
              <a:t>  </a:t>
            </a:r>
            <a:r>
              <a:rPr sz="1076" b="1">
                <a:solidFill>
                  <a:srgbClr val="FFD54F"/>
                </a:solidFill>
              </a:rPr>
              <a:t>Endemia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86482" y="3798570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86482" y="4057650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África, América del Sur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0484" y="3619499"/>
            <a:ext cx="1914477" cy="771525"/>
          </a:xfrm>
          <a:prstGeom prst="roundRect">
            <a:avLst>
              <a:gd name="adj" fmla="val 9876"/>
            </a:avLst>
          </a:prstGeom>
          <a:solidFill>
            <a:srgbClr val="FFD54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9290762" y="3939221"/>
            <a:ext cx="771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1455" y="3762374"/>
            <a:ext cx="159063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04"/>
              <a:t>  </a:t>
            </a:r>
            <a:r>
              <a:rPr sz="1076" b="1">
                <a:solidFill>
                  <a:srgbClr val="FFD54F"/>
                </a:solidFill>
              </a:rPr>
              <a:t>Prevención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91455" y="3797141"/>
            <a:ext cx="228594" cy="1971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91455" y="4057650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Vacuna 17D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Objetivos de la exposición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333500"/>
            <a:ext cx="5133846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FF8F00"/>
                </a:solidFill>
              </a:rPr>
              <a:t>Objetivo general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07795"/>
            <a:ext cx="228594" cy="1943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133846" cy="857250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33" y="1866899"/>
            <a:ext cx="5133846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333333"/>
                </a:solidFill>
              </a:rPr>
              <a:t>Describir los principales aspectos epidemiológicos de la fiebre amarilla y su aplicación en la ficha epidemiológica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115" y="1333500"/>
            <a:ext cx="5133846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FF8F00"/>
                </a:solidFill>
              </a:rPr>
              <a:t>Objetivos específicos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91115" y="1447800"/>
            <a:ext cx="228594" cy="1143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91115" y="1866899"/>
            <a:ext cx="5133846" cy="581025"/>
          </a:xfrm>
          <a:prstGeom prst="roundRect">
            <a:avLst>
              <a:gd name="adj" fmla="val 26229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3986" y="2009774"/>
            <a:ext cx="2857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F0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600" y="2009774"/>
            <a:ext cx="37622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Identificar el agente, vector y zonas de endemia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115" y="2638425"/>
            <a:ext cx="5133846" cy="581025"/>
          </a:xfrm>
          <a:prstGeom prst="roundRect">
            <a:avLst>
              <a:gd name="adj" fmla="val 26229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3986" y="2781300"/>
            <a:ext cx="2857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F0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600" y="2781300"/>
            <a:ext cx="416232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Reconocer los datos clave de la ficha epidemiológica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115" y="3409950"/>
            <a:ext cx="5133846" cy="581025"/>
          </a:xfrm>
          <a:prstGeom prst="roundRect">
            <a:avLst>
              <a:gd name="adj" fmla="val 26229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3986" y="3552825"/>
            <a:ext cx="2857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F0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600" y="3552825"/>
            <a:ext cx="420041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Revisar los antecedentes históricos y situación actual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Definición y agente etiológico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1314450"/>
          </a:xfrm>
          <a:prstGeom prst="roundRect">
            <a:avLst>
              <a:gd name="adj" fmla="val 1159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75548" y="1924685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8F00"/>
                </a:solidFill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27" y="1885950"/>
            <a:ext cx="4724281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Enfermedad </a:t>
            </a:r>
            <a:r>
              <a:rPr sz="1196" b="1">
                <a:solidFill>
                  <a:srgbClr val="FF8F00"/>
                </a:solidFill>
              </a:rPr>
              <a:t>infecciosa aguda</a:t>
            </a:r>
            <a:r>
              <a:rPr sz="1196" b="0">
                <a:solidFill>
                  <a:srgbClr val="333333"/>
                </a:solidFill>
              </a:rPr>
              <a:t>, </a:t>
            </a:r>
            <a:r>
              <a:rPr sz="1196" b="1">
                <a:solidFill>
                  <a:srgbClr val="FF8F00"/>
                </a:solidFill>
              </a:rPr>
              <a:t>viral</a:t>
            </a:r>
            <a:r>
              <a:rPr sz="1196" b="0">
                <a:solidFill>
                  <a:srgbClr val="333333"/>
                </a:solidFill>
              </a:rPr>
              <a:t>, </a:t>
            </a:r>
            <a:r>
              <a:rPr sz="1196" b="1">
                <a:solidFill>
                  <a:srgbClr val="FF8F00"/>
                </a:solidFill>
              </a:rPr>
              <a:t>hemorrágica</a:t>
            </a:r>
            <a:r>
              <a:rPr sz="1196" b="0">
                <a:solidFill>
                  <a:srgbClr val="333333"/>
                </a:solidFill>
              </a:rPr>
              <a:t>, transmitida por mosquitos (</a:t>
            </a:r>
            <a:r>
              <a:rPr sz="1196" b="1">
                <a:solidFill>
                  <a:srgbClr val="FF8F00"/>
                </a:solidFill>
              </a:rPr>
              <a:t>metaxénica</a:t>
            </a:r>
            <a:r>
              <a:rPr sz="1196" b="0">
                <a:solidFill>
                  <a:srgbClr val="333333"/>
                </a:solidFill>
              </a:rPr>
              <a:t>)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838450"/>
            <a:ext cx="5143371" cy="1600200"/>
          </a:xfrm>
          <a:prstGeom prst="roundRect">
            <a:avLst>
              <a:gd name="adj" fmla="val 9523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67327" y="3572510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327" y="3028950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8F00"/>
                </a:solidFill>
              </a:rPr>
              <a:t>Agente etiológico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27" y="3390899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Virus de la fiebre amarilla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3676649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Género: </a:t>
            </a:r>
            <a:r>
              <a:rPr sz="1196" b="1">
                <a:solidFill>
                  <a:srgbClr val="FF8F00"/>
                </a:solidFill>
              </a:rPr>
              <a:t>Flavivirus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3962399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Familia: </a:t>
            </a:r>
            <a:r>
              <a:rPr sz="1196" b="1">
                <a:solidFill>
                  <a:srgbClr val="FF8F00"/>
                </a:solidFill>
              </a:rPr>
              <a:t>Flaviviridae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629150"/>
            <a:ext cx="5143371" cy="1314450"/>
          </a:xfrm>
          <a:prstGeom prst="roundRect">
            <a:avLst>
              <a:gd name="adj" fmla="val 1159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75548" y="5220335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4819650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8F00"/>
                </a:solidFill>
              </a:rPr>
              <a:t>Reservorios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5181599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• Humanos (ciclo urbano)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27" y="5467349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• Primates no humanos (ciclo selvático)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6324599"/>
            <a:ext cx="5143371" cy="1009649"/>
          </a:xfrm>
          <a:prstGeom prst="roundRect">
            <a:avLst>
              <a:gd name="adj" fmla="val 15094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6712194"/>
            <a:ext cx="304792" cy="23446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57268" y="6467474"/>
            <a:ext cx="4409964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El nombre "fiebre amarilla" proviene de la ictericia que afecta a algunos pacientes, dando un color amarillento a la piel y ojos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38759" y="2543175"/>
            <a:ext cx="4629034" cy="3047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759" y="5743575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Virus de la fiebre amarilla (Flavivirus) bajo microscopio electrónico. Tamaño aproximado: 40-50 nm.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Modo de transmisión y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1028700"/>
          </a:xfrm>
          <a:prstGeom prst="roundRect">
            <a:avLst>
              <a:gd name="adj" fmla="val 1481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18423" y="17818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8F00"/>
                </a:solidFill>
              </a:rPr>
              <a:t>Tipo de transmisión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27" y="1885950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FF8F00"/>
                </a:solidFill>
              </a:rPr>
              <a:t>Vectorial:</a:t>
            </a:r>
            <a:r>
              <a:rPr sz="1196" b="0">
                <a:solidFill>
                  <a:srgbClr val="333333"/>
                </a:solidFill>
              </a:rPr>
              <a:t> picadura de mosquitos infectados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343275"/>
            <a:ext cx="5143371" cy="809625"/>
          </a:xfrm>
          <a:prstGeom prst="roundRect">
            <a:avLst>
              <a:gd name="adj" fmla="val 18823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3606311"/>
            <a:ext cx="380990" cy="2930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33466" y="3486150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8F00"/>
                </a:solidFill>
              </a:rPr>
              <a:t>Aedes aegypti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466" y="3771900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Principal vector en ciclo </a:t>
            </a:r>
            <a:r>
              <a:rPr sz="1076" b="1">
                <a:solidFill>
                  <a:srgbClr val="FF8F00"/>
                </a:solidFill>
              </a:rPr>
              <a:t>urbano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5095874"/>
            <a:ext cx="5143371" cy="809625"/>
          </a:xfrm>
          <a:prstGeom prst="roundRect">
            <a:avLst>
              <a:gd name="adj" fmla="val 18823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995" y="5343525"/>
            <a:ext cx="360209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33466" y="5238749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8F00"/>
                </a:solidFill>
              </a:rPr>
              <a:t>Haemagogus y Sabethes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466" y="5524499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Vectores en ciclo </a:t>
            </a:r>
            <a:r>
              <a:rPr sz="1076" b="1">
                <a:solidFill>
                  <a:srgbClr val="FF8F00"/>
                </a:solidFill>
              </a:rPr>
              <a:t>selvático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7029450"/>
            <a:ext cx="5143371" cy="590549"/>
          </a:xfrm>
          <a:prstGeom prst="roundRect">
            <a:avLst>
              <a:gd name="adj" fmla="val 25806"/>
            </a:avLst>
          </a:prstGeom>
          <a:solidFill>
            <a:srgbClr val="F443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995" y="7172325"/>
            <a:ext cx="360209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33466" y="7200900"/>
            <a:ext cx="38670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1">
                <a:solidFill>
                  <a:srgbClr val="333333"/>
                </a:solidFill>
              </a:rPr>
              <a:t>No se transmite por:</a:t>
            </a:r>
            <a:r>
              <a:rPr sz="1076" b="0">
                <a:solidFill>
                  <a:srgbClr val="333333"/>
                </a:solidFill>
              </a:rPr>
              <a:t> contacto directo, alimentos, aire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759" y="1333500"/>
            <a:ext cx="4629034" cy="238125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759" y="3905249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666666"/>
                </a:solidFill>
              </a:rPr>
              <a:t>Mosquitos vectores de la fiebre amarilla: Aedes aegypti (ciclo urbano) y Haemagogus (ciclo selvático)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8759" y="4476750"/>
            <a:ext cx="4629034" cy="238125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759" y="7048500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666666"/>
                </a:solidFill>
              </a:rPr>
              <a:t>Ciclo de transmisión de la fiebre amarilla entre humanos, primates y mosquitos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Ciclos de transmisión y zona de endemia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1314450"/>
          </a:xfrm>
          <a:prstGeom prst="roundRect">
            <a:avLst>
              <a:gd name="adj" fmla="val 1159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75548" y="1924685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5718" y="1523999"/>
            <a:ext cx="360209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52516" y="152399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8F00"/>
                </a:solidFill>
              </a:rPr>
              <a:t>Ciclo selvático (jungla)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2516" y="1885950"/>
            <a:ext cx="4267093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FF8F00"/>
                </a:solidFill>
              </a:rPr>
              <a:t>Mosquito</a:t>
            </a:r>
            <a:r>
              <a:rPr sz="1196" b="0">
                <a:solidFill>
                  <a:srgbClr val="333333"/>
                </a:solidFill>
              </a:rPr>
              <a:t> ↔ </a:t>
            </a:r>
            <a:r>
              <a:rPr sz="1196" b="1">
                <a:solidFill>
                  <a:srgbClr val="FF8F00"/>
                </a:solidFill>
              </a:rPr>
              <a:t>monos</a:t>
            </a:r>
            <a:r>
              <a:rPr sz="1196" b="0">
                <a:solidFill>
                  <a:srgbClr val="333333"/>
                </a:solidFill>
              </a:rPr>
              <a:t> → humano entra a zona selvática y se infecta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838450"/>
            <a:ext cx="5143371" cy="1314450"/>
          </a:xfrm>
          <a:prstGeom prst="roundRect">
            <a:avLst>
              <a:gd name="adj" fmla="val 1159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75548" y="3429635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7141" y="3028950"/>
            <a:ext cx="377361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30289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FF8F00"/>
                </a:solidFill>
              </a:rPr>
              <a:t>Ciclo urbano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16" y="3390899"/>
            <a:ext cx="4267093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FF8F00"/>
                </a:solidFill>
              </a:rPr>
              <a:t>Mosquito Aedes</a:t>
            </a:r>
            <a:r>
              <a:rPr sz="1196" b="0">
                <a:solidFill>
                  <a:srgbClr val="333333"/>
                </a:solidFill>
              </a:rPr>
              <a:t> ↔ </a:t>
            </a:r>
            <a:r>
              <a:rPr sz="1196" b="1">
                <a:solidFill>
                  <a:srgbClr val="FF8F00"/>
                </a:solidFill>
              </a:rPr>
              <a:t>humano</a:t>
            </a:r>
            <a:r>
              <a:rPr sz="1196" b="0">
                <a:solidFill>
                  <a:srgbClr val="333333"/>
                </a:solidFill>
              </a:rPr>
              <a:t> (riesgo de brotes en ciudades)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343400"/>
            <a:ext cx="4629034" cy="2714625"/>
          </a:xfrm>
          <a:prstGeom prst="roundRect">
            <a:avLst>
              <a:gd name="adj" fmla="val 5614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28" y="4533900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Zonas de endemia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457009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7228" y="4943475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Regiones tropicales de </a:t>
            </a:r>
            <a:r>
              <a:rPr sz="1196" b="1">
                <a:solidFill>
                  <a:srgbClr val="FF8F00"/>
                </a:solidFill>
              </a:rPr>
              <a:t>América del Sur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5334000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Regiones tropicales de </a:t>
            </a:r>
            <a:r>
              <a:rPr sz="1196" b="1">
                <a:solidFill>
                  <a:srgbClr val="FF8F00"/>
                </a:solidFill>
              </a:rPr>
              <a:t>África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5724524"/>
            <a:ext cx="424804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Países amazónicos: Bolivia, Brasil, Colombia, Guyana, Perú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28" y="6296024"/>
            <a:ext cx="424804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Áreas donde se exige </a:t>
            </a:r>
            <a:r>
              <a:rPr sz="1196" b="1">
                <a:solidFill>
                  <a:srgbClr val="FF8F00"/>
                </a:solidFill>
              </a:rPr>
              <a:t>certificado de vacunación</a:t>
            </a:r>
            <a:r>
              <a:rPr sz="1196" b="0">
                <a:solidFill>
                  <a:srgbClr val="333333"/>
                </a:solidFill>
              </a:rPr>
              <a:t> para viajar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8759" y="1647825"/>
            <a:ext cx="4629034" cy="202882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759" y="3819524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Distribución mundial de la fiebre amarilla. Las zonas en rojo y naranja indican áreas de transmisión activa y riesgo de brotes.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759" y="4391025"/>
            <a:ext cx="4629034" cy="2352675"/>
          </a:xfrm>
          <a:prstGeom prst="roundRect">
            <a:avLst>
              <a:gd name="adj" fmla="val 6477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9254" y="4581524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Actualidad epidemiológica (2024-2025)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29254" y="4622006"/>
            <a:ext cx="228594" cy="1857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29254" y="4991100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212 casos confirmados en las Américas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9254" y="5381624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85 muertes reportadas a la OMS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9254" y="5772150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Brotes principalmente en la región amazónica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9254" y="6162675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Enfermedad considerada </a:t>
            </a:r>
            <a:r>
              <a:rPr sz="1196" b="1">
                <a:solidFill>
                  <a:srgbClr val="FF8F00"/>
                </a:solidFill>
              </a:rPr>
              <a:t>reemergente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Cuadro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544835"/>
            <a:ext cx="380990" cy="339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3466" y="1571625"/>
            <a:ext cx="339081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33333"/>
                </a:solidFill>
              </a:rPr>
              <a:t> Periodo de incubación: </a:t>
            </a:r>
            <a:r>
              <a:rPr sz="1315" b="1">
                <a:solidFill>
                  <a:srgbClr val="FF8F00"/>
                </a:solidFill>
              </a:rPr>
              <a:t>3–6 días aprox.</a:t>
            </a:r>
            <a:r>
              <a:rPr sz="1315" b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286000"/>
            <a:ext cx="5143371" cy="2743200"/>
          </a:xfrm>
          <a:prstGeom prst="roundRect">
            <a:avLst>
              <a:gd name="adj" fmla="val 5555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638827" y="3591560"/>
            <a:ext cx="2743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27" y="24764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Fase inicial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51269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27" y="288607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Fiebre 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3276599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Cefalea intensa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366712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Mialgias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27" y="40576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Náuseas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7" y="444817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Dolor lumbar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219700"/>
            <a:ext cx="5143371" cy="2352675"/>
          </a:xfrm>
          <a:prstGeom prst="roundRect">
            <a:avLst>
              <a:gd name="adj" fmla="val 6477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443564" y="6329997"/>
            <a:ext cx="2352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27" y="54101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Fase tóxica (casos graves)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545068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5327" y="581977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Ictericia</a:t>
            </a:r>
            <a:r>
              <a:rPr sz="1196" b="0">
                <a:solidFill>
                  <a:srgbClr val="333333"/>
                </a:solidFill>
              </a:rPr>
              <a:t> (piel y ojos amarillos)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27" y="6210299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Hemorragias</a:t>
            </a:r>
            <a:r>
              <a:rPr sz="1196" b="0">
                <a:solidFill>
                  <a:srgbClr val="333333"/>
                </a:solidFill>
              </a:rPr>
              <a:t> (encías, vómito con sangre)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27" y="66008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Choque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69913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Falla multiorgánica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7953374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443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8188523"/>
            <a:ext cx="380990" cy="2917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33466" y="8191499"/>
            <a:ext cx="360988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44336"/>
                </a:solidFill>
              </a:rPr>
              <a:t>Alta letalidad en formas graves (20-50%)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38759" y="2743200"/>
            <a:ext cx="4629034" cy="2857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759" y="5791200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666666"/>
                </a:solidFill>
              </a:rPr>
              <a:t>Ictericia: coloración amarillenta de la piel y esclerótica (blanco del ojo), uno de los signos característicos de la fiebre amarilla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38759" y="6362700"/>
            <a:ext cx="1438239" cy="942975"/>
          </a:xfrm>
          <a:prstGeom prst="roundRect">
            <a:avLst>
              <a:gd name="adj" fmla="val 1616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143571" y="6532179"/>
            <a:ext cx="342891" cy="28969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76898" y="6943725"/>
            <a:ext cx="56196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Fiebre 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9869" y="6362700"/>
            <a:ext cx="1466813" cy="942975"/>
          </a:xfrm>
          <a:prstGeom prst="roundRect">
            <a:avLst>
              <a:gd name="adj" fmla="val 1616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34206" y="6535135"/>
            <a:ext cx="342891" cy="2837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62740" y="6943725"/>
            <a:ext cx="118107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Hígado/Ictericia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554" y="6362700"/>
            <a:ext cx="1438239" cy="942975"/>
          </a:xfrm>
          <a:prstGeom prst="roundRect">
            <a:avLst>
              <a:gd name="adj" fmla="val 1616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324841" y="6532179"/>
            <a:ext cx="342891" cy="28969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191495" y="6943725"/>
            <a:ext cx="70483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Sangrado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Antecedentes históricos y de salud pública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2324100"/>
          </a:xfrm>
          <a:prstGeom prst="roundRect">
            <a:avLst>
              <a:gd name="adj" fmla="val 6557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429277" y="2429510"/>
            <a:ext cx="2324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Antecedentes históricos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56876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27" y="1933574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Grandes epidemias en </a:t>
            </a:r>
            <a:r>
              <a:rPr sz="1196" b="1">
                <a:solidFill>
                  <a:srgbClr val="FF8F00"/>
                </a:solidFill>
              </a:rPr>
              <a:t>puertos y ciudades tropicales</a:t>
            </a:r>
            <a:r>
              <a:rPr sz="1196" b="0">
                <a:solidFill>
                  <a:srgbClr val="333333"/>
                </a:solidFill>
              </a:rPr>
              <a:t> (siglos XIX–XX)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7" y="25050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Impacto en </a:t>
            </a:r>
            <a:r>
              <a:rPr sz="1196" b="1">
                <a:solidFill>
                  <a:srgbClr val="FF8F00"/>
                </a:solidFill>
              </a:rPr>
              <a:t>comercio, guerra y construcción de canales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27" y="2895600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Obstáculo para colonización y desarrollo de regiones tropicales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105274"/>
            <a:ext cx="5143371" cy="2143125"/>
          </a:xfrm>
          <a:prstGeom prst="roundRect">
            <a:avLst>
              <a:gd name="adj" fmla="val 711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338789" y="5110796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4295774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Salud pública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433197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47053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Vacuna 17D</a:t>
            </a:r>
            <a:r>
              <a:rPr sz="1196" b="0">
                <a:solidFill>
                  <a:srgbClr val="333333"/>
                </a:solidFill>
              </a:rPr>
              <a:t> (1937) cambió la historia de la enfermedad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" y="5095874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Brotes periódicos cuando </a:t>
            </a:r>
            <a:r>
              <a:rPr sz="1196" b="1">
                <a:solidFill>
                  <a:srgbClr val="FF8F00"/>
                </a:solidFill>
              </a:rPr>
              <a:t>bajan coberturas de vacunación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56673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Control vectorial como estrategia complementaria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6896099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604" y="7058025"/>
            <a:ext cx="76198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8F00"/>
                </a:solidFill>
              </a:rPr>
              <a:t>95%+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4457" y="7038974"/>
            <a:ext cx="395277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Efectividad de la vacuna 17D en 30 días después de la vacunación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8759" y="1333500"/>
            <a:ext cx="4629034" cy="26670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759" y="4190999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666666"/>
                </a:solidFill>
              </a:rPr>
              <a:t>Vacuna contra la fiebre amarilla 17D, una de las vacunas vivas atenuadas más exitosas desarrolladas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759" y="4762500"/>
            <a:ext cx="4629034" cy="2895600"/>
          </a:xfrm>
          <a:prstGeom prst="roundRect">
            <a:avLst>
              <a:gd name="adj" fmla="val 5263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9254" y="4952999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Actualidad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29254" y="4997767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29254" y="5362575"/>
            <a:ext cx="424804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Enfermedad considerada </a:t>
            </a:r>
            <a:r>
              <a:rPr sz="1196" b="1">
                <a:solidFill>
                  <a:srgbClr val="FF8F00"/>
                </a:solidFill>
              </a:rPr>
              <a:t>reemergente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9254" y="5753099"/>
            <a:ext cx="424804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Algunos países exigen </a:t>
            </a:r>
            <a:r>
              <a:rPr sz="1196" b="1">
                <a:solidFill>
                  <a:srgbClr val="FF8F00"/>
                </a:solidFill>
              </a:rPr>
              <a:t>certificado internacional de vacunación</a:t>
            </a:r>
            <a:r>
              <a:rPr sz="1196" b="0">
                <a:solidFill>
                  <a:srgbClr val="333333"/>
                </a:solidFill>
              </a:rPr>
              <a:t> para viajeros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9254" y="6324599"/>
            <a:ext cx="424804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212 casos confirmados y 85 muertes en las Américas (2024-2025)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9254" y="6896099"/>
            <a:ext cx="424804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Vigilancia epidemiológica fundamental para detección temprana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Ficha epidemiológica de fiebre amarilla (1): datos generales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1962149"/>
          </a:xfrm>
          <a:prstGeom prst="roundRect">
            <a:avLst>
              <a:gd name="adj" fmla="val 7766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248301" y="2248534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Datos de identificación del paciente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574482"/>
            <a:ext cx="228594" cy="165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27" y="19335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Nombre completo</a:t>
            </a:r>
            <a:r>
              <a:rPr sz="1196" b="0">
                <a:solidFill>
                  <a:srgbClr val="333333"/>
                </a:solidFill>
              </a:rPr>
              <a:t>, edad, sexo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7" y="232410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DNI / HC (historia clínica)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27" y="27146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Dirección completa</a:t>
            </a:r>
            <a:r>
              <a:rPr sz="1196" b="0">
                <a:solidFill>
                  <a:srgbClr val="333333"/>
                </a:solidFill>
              </a:rPr>
              <a:t> y lugar de procedencia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86150"/>
            <a:ext cx="5143371" cy="1962149"/>
          </a:xfrm>
          <a:prstGeom prst="roundRect">
            <a:avLst>
              <a:gd name="adj" fmla="val 7766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248301" y="4401184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367664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Datos de notificación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714273"/>
            <a:ext cx="228594" cy="1914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40862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Establecimiento de salud que notifica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" y="44767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Fecha de inicio de síntomas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48672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Fecha de notificación y fecha de investigación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638799"/>
            <a:ext cx="5143371" cy="2505074"/>
          </a:xfrm>
          <a:prstGeom prst="roundRect">
            <a:avLst>
              <a:gd name="adj" fmla="val 6083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519764" y="6825296"/>
            <a:ext cx="2505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5829300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Clasificación del caso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586549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327" y="6238874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Sospechoso</a:t>
            </a:r>
            <a:r>
              <a:rPr sz="1196" b="0">
                <a:solidFill>
                  <a:srgbClr val="333333"/>
                </a:solidFill>
              </a:rPr>
              <a:t>: clínica compatible + antecedente epidemiológico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6810374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Probable</a:t>
            </a:r>
            <a:r>
              <a:rPr sz="1196" b="0">
                <a:solidFill>
                  <a:srgbClr val="333333"/>
                </a:solidFill>
              </a:rPr>
              <a:t>: sospechoso + resultado de laboratorio no concluyente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" y="7381874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Confirmado</a:t>
            </a:r>
            <a:r>
              <a:rPr sz="1196" b="0">
                <a:solidFill>
                  <a:srgbClr val="333333"/>
                </a:solidFill>
              </a:rPr>
              <a:t>: criterio clínico + confirmación por laboratorio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8524875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8788644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57268" y="8667750"/>
            <a:ext cx="440996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La ficha epidemiológica es fundamental para la vigilancia y control de brotes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333500"/>
            <a:ext cx="5143371" cy="7953374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9709" y="1571625"/>
            <a:ext cx="466713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F00"/>
                </a:solidFill>
              </a:rPr>
              <a:t>FICHA EPIDEMIOLÓGICA - FIEBRE AMARILLA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709" y="2219324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Datos de identificación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19709" y="2260282"/>
            <a:ext cx="228594" cy="1657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19709" y="2552700"/>
            <a:ext cx="133346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Nombre completo: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3176" y="2628900"/>
            <a:ext cx="3333666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9709" y="3143250"/>
            <a:ext cx="9524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Edad: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2185" y="3105149"/>
            <a:ext cx="1314417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9474" y="3143250"/>
            <a:ext cx="9524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Sexo: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81950" y="3105149"/>
            <a:ext cx="1314417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9709" y="3543300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DNI / HC: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3176" y="3505199"/>
            <a:ext cx="3333666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9709" y="3943350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Dirección: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3176" y="3905249"/>
            <a:ext cx="3333666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9709" y="4343400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Procedencia: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3176" y="4305300"/>
            <a:ext cx="3333666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9709" y="4895849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Datos de notificación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9709" y="4914423"/>
            <a:ext cx="228594" cy="19145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19709" y="5257800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Establecimiento: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3176" y="5229225"/>
            <a:ext cx="3333666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9709" y="5629275"/>
            <a:ext cx="952476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Inicio síntomas: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72185" y="5705475"/>
            <a:ext cx="1314417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9474" y="5734050"/>
            <a:ext cx="95247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Notificación: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81950" y="5705475"/>
            <a:ext cx="1314417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9709" y="6372225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Clasificación del caso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19709" y="6398894"/>
            <a:ext cx="228594" cy="19430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619709" y="6753224"/>
            <a:ext cx="1457288" cy="428625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19869" y="6753224"/>
            <a:ext cx="1457288" cy="428625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29554" y="6753224"/>
            <a:ext cx="1457288" cy="428625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Ficha epidemiológica (2): antecedentes y factores de riesgo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1962149"/>
          </a:xfrm>
          <a:prstGeom prst="roundRect">
            <a:avLst>
              <a:gd name="adj" fmla="val 7766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248301" y="2248534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Antecedente de vacunación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557337"/>
            <a:ext cx="228594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27" y="19335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¿Tiene </a:t>
            </a:r>
            <a:r>
              <a:rPr sz="1196" b="1">
                <a:solidFill>
                  <a:srgbClr val="FF8F00"/>
                </a:solidFill>
              </a:rPr>
              <a:t>vacuna contra fiebre amarilla</a:t>
            </a:r>
            <a:r>
              <a:rPr sz="1196" b="0">
                <a:solidFill>
                  <a:srgbClr val="333333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7" y="232410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¿Cuándo se vacunó? (fecha y dosis)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27" y="27146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¿Presentó reacciones adversas?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86150"/>
            <a:ext cx="5143371" cy="2143125"/>
          </a:xfrm>
          <a:prstGeom prst="roundRect">
            <a:avLst>
              <a:gd name="adj" fmla="val 711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338789" y="4491672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367664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Antecedentes de viaje / residencia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71284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40862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Viaje a </a:t>
            </a:r>
            <a:r>
              <a:rPr sz="1196" b="1">
                <a:solidFill>
                  <a:srgbClr val="FF8F00"/>
                </a:solidFill>
              </a:rPr>
              <a:t>zona de selva o endémica</a:t>
            </a:r>
            <a:r>
              <a:rPr sz="1196" b="0">
                <a:solidFill>
                  <a:srgbClr val="333333"/>
                </a:solidFill>
              </a:rPr>
              <a:t> en los últimos 6-10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" y="4476750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Actividad en zona rural, agrícola, minera, militar, turística,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50482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Lugares específicos visitados y duración de la estancia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819775"/>
            <a:ext cx="5143371" cy="2143125"/>
          </a:xfrm>
          <a:prstGeom prst="roundRect">
            <a:avLst>
              <a:gd name="adj" fmla="val 711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338789" y="6825297"/>
            <a:ext cx="2143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6010274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Exposición al vector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6053613"/>
            <a:ext cx="228594" cy="1800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327" y="64198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Permanencia en zonas con </a:t>
            </a:r>
            <a:r>
              <a:rPr sz="1196" b="1">
                <a:solidFill>
                  <a:srgbClr val="FF8F00"/>
                </a:solidFill>
              </a:rPr>
              <a:t>mosquitos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6810374"/>
            <a:ext cx="4724281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Uso de medidas de protección (repelentes, ropa adecuada)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" y="73818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Utilización de mosquiteros durante el sueño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8343900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8607669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57268" y="8486775"/>
            <a:ext cx="440996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Los antecedentes epidemiológicos son cruciales para la clasificación de casos y activación de medidas de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333500"/>
            <a:ext cx="5143371" cy="777240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9709" y="1571625"/>
            <a:ext cx="466713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F00"/>
                </a:solidFill>
              </a:rPr>
              <a:t>FICHA EPIDEMIOLÓGICA - ANTECEDENTES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709" y="2219324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Antecedente de vacunación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19709" y="2243137"/>
            <a:ext cx="228594" cy="2000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19709" y="2590799"/>
            <a:ext cx="15239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¿Vacunado?: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43671" y="2552700"/>
            <a:ext cx="314317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9709" y="2990849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Fecha: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62680" y="2952750"/>
            <a:ext cx="112392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9474" y="2990849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Dosis: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72445" y="2952750"/>
            <a:ext cx="112392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9709" y="3543300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Antecedentes de viaje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9709" y="356044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19709" y="3905249"/>
            <a:ext cx="15239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Zona visitada: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43671" y="3876674"/>
            <a:ext cx="314317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9709" y="4305300"/>
            <a:ext cx="15239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Período: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43671" y="4276725"/>
            <a:ext cx="314317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9709" y="4705350"/>
            <a:ext cx="15239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Actividad: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43671" y="4676775"/>
            <a:ext cx="314317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9709" y="5267324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Exposición al vector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19709" y="5301138"/>
            <a:ext cx="228594" cy="18002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6619709" y="5600700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19949" y="5600700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19709" y="6134100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19949" y="6134100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Ficha epidemiológica (3): datos clínicos y de laboratorio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1962149"/>
          </a:xfrm>
          <a:prstGeom prst="roundRect">
            <a:avLst>
              <a:gd name="adj" fmla="val 7766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248301" y="2248534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Datos clínicos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560195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5327" y="19335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Fiebre súbita</a:t>
            </a:r>
            <a:r>
              <a:rPr sz="1196" b="0">
                <a:solidFill>
                  <a:srgbClr val="333333"/>
                </a:solidFill>
              </a:rPr>
              <a:t>, cefalea intensa, mialgias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7" y="232410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Ictericia</a:t>
            </a:r>
            <a:r>
              <a:rPr sz="1196" b="0">
                <a:solidFill>
                  <a:srgbClr val="333333"/>
                </a:solidFill>
              </a:rPr>
              <a:t>, sangrado (encías, GI, etc.)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27" y="27146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Signos de shock o falla hepática/renal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86150"/>
            <a:ext cx="5143371" cy="1962149"/>
          </a:xfrm>
          <a:prstGeom prst="roundRect">
            <a:avLst>
              <a:gd name="adj" fmla="val 7766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248301" y="4401184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367664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Laboratorio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727132"/>
            <a:ext cx="228594" cy="1657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27" y="40862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Hemograma, pruebas de función hepática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" y="447675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Serología (IgM específica)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48672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333333"/>
                </a:solidFill>
              </a:rPr>
              <a:t>PCR o aislamiento viral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638799"/>
            <a:ext cx="5143371" cy="1962149"/>
          </a:xfrm>
          <a:prstGeom prst="roundRect">
            <a:avLst>
              <a:gd name="adj" fmla="val 7766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248301" y="6553833"/>
            <a:ext cx="1962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5829300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8F00"/>
                </a:solidFill>
              </a:rPr>
              <a:t>Evolución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5899784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327" y="6238874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Alta</a:t>
            </a:r>
            <a:r>
              <a:rPr sz="1196" b="0">
                <a:solidFill>
                  <a:srgbClr val="333333"/>
                </a:solidFill>
              </a:rPr>
              <a:t> (recuperación completa)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" y="6629400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Complicación</a:t>
            </a:r>
            <a:r>
              <a:rPr sz="1196" b="0">
                <a:solidFill>
                  <a:srgbClr val="333333"/>
                </a:solidFill>
              </a:rPr>
              <a:t> (secuelas hepáticas)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" y="7019925"/>
            <a:ext cx="4724281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FF8F00"/>
                </a:solidFill>
              </a:rPr>
              <a:t>Fallecimiento</a:t>
            </a:r>
            <a:r>
              <a:rPr sz="1196" b="0">
                <a:solidFill>
                  <a:srgbClr val="333333"/>
                </a:solidFill>
              </a:rPr>
              <a:t> (formas graves)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7981949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8245719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57268" y="8124824"/>
            <a:ext cx="440996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La confirmación por laboratorio es esencial para el control de brotes y vigilancia epidemiológica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333500"/>
            <a:ext cx="5143371" cy="7410449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9709" y="1571625"/>
            <a:ext cx="4667133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F00"/>
                </a:solidFill>
              </a:rPr>
              <a:t>FICHA EPIDEMIOLÓGICA - CLÍNICA Y LABORATORIO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709" y="2514600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Datos clínicos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19709" y="2531745"/>
            <a:ext cx="228594" cy="19430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619709" y="2847974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19949" y="2847974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19709" y="3381375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19949" y="3381375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19709" y="3914775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19949" y="3914775"/>
            <a:ext cx="2257368" cy="390525"/>
          </a:xfrm>
          <a:prstGeom prst="roundRect">
            <a:avLst>
              <a:gd name="adj" fmla="val 19512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9709" y="4495799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Laboratorio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19709" y="4527232"/>
            <a:ext cx="228594" cy="16573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19709" y="4857750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Hemograma: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62680" y="4829175"/>
            <a:ext cx="112392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9474" y="4857750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Transaminasas: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72445" y="4829175"/>
            <a:ext cx="112392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9709" y="5257800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Bilirrubinas: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62680" y="5229225"/>
            <a:ext cx="112392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9474" y="5257800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PCR: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72445" y="5229225"/>
            <a:ext cx="1123921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9709" y="5657850"/>
            <a:ext cx="171445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</a:rPr>
              <a:t>Serología IgM: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4166" y="5629275"/>
            <a:ext cx="2952676" cy="285750"/>
          </a:xfrm>
          <a:prstGeom prst="roundRect">
            <a:avLst>
              <a:gd name="adj" fmla="val 26666"/>
            </a:avLst>
          </a:prstGeom>
          <a:solidFill>
            <a:srgbClr val="F9F9F9"/>
          </a:solidFill>
          <a:ln w="825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9709" y="6219825"/>
            <a:ext cx="46671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</a:rPr>
              <a:t>Evolución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19709" y="6280784"/>
            <a:ext cx="228594" cy="12572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619709" y="6553199"/>
            <a:ext cx="1419189" cy="428625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81770" y="6553199"/>
            <a:ext cx="1485862" cy="428625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810504" y="6553199"/>
            <a:ext cx="1476338" cy="428625"/>
          </a:xfrm>
          <a:prstGeom prst="roundRect">
            <a:avLst>
              <a:gd name="adj" fmla="val 17777"/>
            </a:avLst>
          </a:prstGeom>
          <a:solidFill>
            <a:srgbClr val="FFD54F">
              <a:alpha val="10000"/>
            </a:srgbClr>
          </a:solidFill>
          <a:ln w="825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Medidas de prevención 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2066924"/>
          </a:xfrm>
          <a:prstGeom prst="roundRect">
            <a:avLst>
              <a:gd name="adj" fmla="val 7373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300689" y="2300922"/>
            <a:ext cx="20669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546170"/>
            <a:ext cx="342891" cy="298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8714" y="1523999"/>
            <a:ext cx="419089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8F00"/>
                </a:solidFill>
              </a:rPr>
              <a:t>Vacunación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14" y="1914525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Vacuna viva atenuada </a:t>
            </a:r>
            <a:r>
              <a:rPr sz="1196" b="1">
                <a:solidFill>
                  <a:srgbClr val="FF8F00"/>
                </a:solidFill>
              </a:rPr>
              <a:t>(17D)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14" y="2286000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Una dosis da </a:t>
            </a:r>
            <a:r>
              <a:rPr sz="1196" b="1">
                <a:solidFill>
                  <a:srgbClr val="FF8F00"/>
                </a:solidFill>
              </a:rPr>
              <a:t>protección prolongada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14" y="2657475"/>
            <a:ext cx="4190895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Indicada en personas que viven o viajan a zonas de riesgo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90924"/>
            <a:ext cx="5143371" cy="2066924"/>
          </a:xfrm>
          <a:prstGeom prst="roundRect">
            <a:avLst>
              <a:gd name="adj" fmla="val 7373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300689" y="4558346"/>
            <a:ext cx="20669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818375"/>
            <a:ext cx="342891" cy="2689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28714" y="3781424"/>
            <a:ext cx="419089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8F00"/>
                </a:solidFill>
              </a:rPr>
              <a:t>Control del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8714" y="4171950"/>
            <a:ext cx="4190895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Eliminación de </a:t>
            </a:r>
            <a:r>
              <a:rPr sz="1196" b="1">
                <a:solidFill>
                  <a:srgbClr val="FF8F00"/>
                </a:solidFill>
              </a:rPr>
              <a:t>criaderos de Aedes</a:t>
            </a:r>
            <a:r>
              <a:rPr sz="1196" b="0">
                <a:solidFill>
                  <a:srgbClr val="333333"/>
                </a:solidFill>
              </a:rPr>
              <a:t> (agua almacenada)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714" y="4724399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Uso de mosquiteros, repelentes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14" y="5095874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Ropa que cubra extremidades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848350"/>
            <a:ext cx="5143371" cy="1514475"/>
          </a:xfrm>
          <a:prstGeom prst="roundRect">
            <a:avLst>
              <a:gd name="adj" fmla="val 10062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24464" y="6539547"/>
            <a:ext cx="1514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6097970"/>
            <a:ext cx="342891" cy="22465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28714" y="6038849"/>
            <a:ext cx="419089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8F00"/>
                </a:solidFill>
              </a:rPr>
              <a:t>Vigilancia epidemiológica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14" y="6429375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8F00"/>
                </a:solidFill>
              </a:rPr>
              <a:t>Notificación inmediata</a:t>
            </a:r>
            <a:r>
              <a:rPr sz="1196" b="0">
                <a:solidFill>
                  <a:srgbClr val="333333"/>
                </a:solidFill>
              </a:rPr>
              <a:t> de casos sospechosos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14" y="6800850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Investigación de foco, búsqueda de otros casos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7553324"/>
            <a:ext cx="5143371" cy="1514475"/>
          </a:xfrm>
          <a:prstGeom prst="roundRect">
            <a:avLst>
              <a:gd name="adj" fmla="val 10062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24464" y="8244521"/>
            <a:ext cx="1514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7782253"/>
            <a:ext cx="342891" cy="2660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28714" y="7743825"/>
            <a:ext cx="419089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8F00"/>
                </a:solidFill>
              </a:rPr>
              <a:t>Educación a la población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14" y="8134349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Informar sobre </a:t>
            </a:r>
            <a:r>
              <a:rPr sz="1196" b="1">
                <a:solidFill>
                  <a:srgbClr val="FF8F00"/>
                </a:solidFill>
              </a:rPr>
              <a:t>importancia de la vacuna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14" y="8505824"/>
            <a:ext cx="4190895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</a:rPr>
              <a:t>Medidas de protección contra mosquitos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8759" y="1552574"/>
            <a:ext cx="4629034" cy="238125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759" y="4124324"/>
            <a:ext cx="46290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666666"/>
                </a:solidFill>
              </a:rPr>
              <a:t>Vacuna contra la fiebre amarilla 17D: una sola dosis confiere inmunidad de por vida en la mayoría de los casos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38759" y="4695824"/>
            <a:ext cx="4629034" cy="952499"/>
          </a:xfrm>
          <a:prstGeom prst="roundRect">
            <a:avLst>
              <a:gd name="adj" fmla="val 16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9254" y="4886325"/>
            <a:ext cx="7619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8F00"/>
                </a:solidFill>
              </a:rPr>
              <a:t>95%+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81730" y="4905375"/>
            <a:ext cx="329556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Efectividad de la vacuna 17D en 30 días después de la vacunación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38759" y="5838824"/>
            <a:ext cx="2247843" cy="1162050"/>
          </a:xfrm>
          <a:prstGeom prst="roundRect">
            <a:avLst>
              <a:gd name="adj" fmla="val 1311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91235" y="6008304"/>
            <a:ext cx="342891" cy="28969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81630" y="6419850"/>
            <a:ext cx="1962100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Eliminar recipientes con agua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9474" y="5838824"/>
            <a:ext cx="2247843" cy="1162050"/>
          </a:xfrm>
          <a:prstGeom prst="roundRect">
            <a:avLst>
              <a:gd name="adj" fmla="val 13114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972425" y="6039342"/>
            <a:ext cx="342891" cy="22761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496187" y="6419850"/>
            <a:ext cx="129536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Usar mosquiteros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38759" y="7143750"/>
            <a:ext cx="2247843" cy="942975"/>
          </a:xfrm>
          <a:prstGeom prst="roundRect">
            <a:avLst>
              <a:gd name="adj" fmla="val 1616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91235" y="7313229"/>
            <a:ext cx="342891" cy="28969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10204" y="7724774"/>
            <a:ext cx="19049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Certificado de vacunación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29474" y="7143750"/>
            <a:ext cx="2247843" cy="942975"/>
          </a:xfrm>
          <a:prstGeom prst="roundRect">
            <a:avLst>
              <a:gd name="adj" fmla="val 16161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972425" y="7336877"/>
            <a:ext cx="342891" cy="24239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29494" y="7724774"/>
            <a:ext cx="182875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</a:rPr>
              <a:t>Comunicación de riesgos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1590" y="8277224"/>
            <a:ext cx="5143371" cy="761999"/>
          </a:xfrm>
          <a:prstGeom prst="roundRect">
            <a:avLst>
              <a:gd name="adj" fmla="val 20000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24461" y="8540994"/>
            <a:ext cx="304792" cy="23446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72125" y="8420099"/>
            <a:ext cx="4409964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Mantener altas coberturas de vacunación y control vectorial es clave para evitar brotes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333333"/>
                </a:solidFill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5143371" cy="3038475"/>
          </a:xfrm>
          <a:prstGeom prst="roundRect">
            <a:avLst>
              <a:gd name="adj" fmla="val 5015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786464" y="2786697"/>
            <a:ext cx="3038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2951" y="1571625"/>
            <a:ext cx="4629034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FF8F00"/>
                </a:solidFill>
              </a:rPr>
              <a:t>Puntos clave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1" y="1654492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2951" y="2105024"/>
            <a:ext cx="4629034" cy="5333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0">
                <a:solidFill>
                  <a:srgbClr val="333333"/>
                </a:solidFill>
              </a:rPr>
              <a:t>La fiebre amarilla es una enfermedad </a:t>
            </a:r>
            <a:r>
              <a:rPr sz="1315" b="1">
                <a:solidFill>
                  <a:srgbClr val="FF8F00"/>
                </a:solidFill>
              </a:rPr>
              <a:t>metaxénica grave pero prevenible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51" y="2781300"/>
            <a:ext cx="4629034" cy="5333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0">
                <a:solidFill>
                  <a:srgbClr val="333333"/>
                </a:solidFill>
              </a:rPr>
              <a:t>Transmitida por mosquitos en zonas tropicales de África y América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51" y="3457575"/>
            <a:ext cx="4629034" cy="5333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0">
                <a:solidFill>
                  <a:srgbClr val="333333"/>
                </a:solidFill>
              </a:rPr>
              <a:t>Causa epidemias cuando disminuye la cobertura de vacunación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562475"/>
            <a:ext cx="5143371" cy="2143125"/>
          </a:xfrm>
          <a:prstGeom prst="roundRect">
            <a:avLst>
              <a:gd name="adj" fmla="val 7111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852" y="4800600"/>
            <a:ext cx="466713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8F00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8F00"/>
                </a:solidFill>
              </a:rPr>
              <a:t>Importancia de la ficha epidemiológica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4854416"/>
            <a:ext cx="228594" cy="1971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52" y="5238749"/>
            <a:ext cx="466713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8F00"/>
                </a:solidFill>
              </a:rPr>
              <a:t>Identificar antecedentes</a:t>
            </a:r>
            <a:r>
              <a:rPr sz="1196" b="0">
                <a:solidFill>
                  <a:srgbClr val="333333"/>
                </a:solidFill>
              </a:rPr>
              <a:t> de exposición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52" y="5648325"/>
            <a:ext cx="466713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8F00"/>
                </a:solidFill>
              </a:rPr>
              <a:t>Clasificar casos</a:t>
            </a:r>
            <a:r>
              <a:rPr sz="1196" b="0">
                <a:solidFill>
                  <a:srgbClr val="333333"/>
                </a:solidFill>
              </a:rPr>
              <a:t> y confirmar 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52" y="6057900"/>
            <a:ext cx="4667133" cy="2952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8F00"/>
                </a:solidFill>
              </a:rPr>
              <a:t>Activar medidas</a:t>
            </a:r>
            <a:r>
              <a:rPr sz="1196" b="0">
                <a:solidFill>
                  <a:srgbClr val="333333"/>
                </a:solidFill>
              </a:rPr>
              <a:t> de control y vacunación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7086600"/>
            <a:ext cx="5143371" cy="1438274"/>
          </a:xfrm>
          <a:prstGeom prst="roundRect">
            <a:avLst>
              <a:gd name="adj" fmla="val 10596"/>
            </a:avLst>
          </a:prstGeom>
          <a:solidFill>
            <a:srgbClr val="FF8F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7626517"/>
            <a:ext cx="457188" cy="3489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2536" y="7324724"/>
            <a:ext cx="4019449" cy="9620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33333"/>
                </a:solidFill>
              </a:rPr>
              <a:t>Mantener altas coberturas de vacunación y control vectorial es clave para evitar brotes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8759" y="2066924"/>
            <a:ext cx="4629034" cy="28575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6858" y="5114925"/>
            <a:ext cx="45433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956" b="0">
                <a:solidFill>
                  <a:srgbClr val="666666"/>
                </a:solidFill>
              </a:rPr>
              <a:t>La vacunación es la medida más efectiva para prevenir la fiebre amarilla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38759" y="5495924"/>
            <a:ext cx="4629034" cy="952499"/>
          </a:xfrm>
          <a:prstGeom prst="roundRect">
            <a:avLst>
              <a:gd name="adj" fmla="val 16000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9254" y="5686425"/>
            <a:ext cx="77150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8F00"/>
                </a:solidFill>
              </a:rPr>
              <a:t>95%+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1255" y="5705475"/>
            <a:ext cx="32860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Efectividad de la vacuna 17D para prevenir la fiebre amarilla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38759" y="6638924"/>
            <a:ext cx="4629034" cy="952499"/>
          </a:xfrm>
          <a:prstGeom prst="roundRect">
            <a:avLst>
              <a:gd name="adj" fmla="val 16000"/>
            </a:avLst>
          </a:prstGeom>
          <a:solidFill>
            <a:srgbClr val="FFD54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9254" y="6829425"/>
            <a:ext cx="7619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8F00"/>
                </a:solidFill>
              </a:rPr>
              <a:t>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730" y="6848475"/>
            <a:ext cx="329556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Casos confirmados en las Américas durante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