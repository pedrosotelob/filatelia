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wFFE+WwDHoHdocl/iTQT0u7EN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30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2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12.png"/><Relationship Id="rId10" Type="http://schemas.openxmlformats.org/officeDocument/2006/relationships/image" Target="../media/image24.png"/><Relationship Id="rId9" Type="http://schemas.openxmlformats.org/officeDocument/2006/relationships/image" Target="../media/image28.jp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84" name="Google Shape;84;p1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847903" y="2381250"/>
            <a:ext cx="6505412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7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Historia de la Filatelia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3905152" y="3409950"/>
            <a:ext cx="43909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lnSpc>
                <a:spcPct val="163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Un viaje a través del tiempo y los sellos postales</a:t>
            </a:r>
            <a:endParaRPr/>
          </a:p>
        </p:txBody>
      </p:sp>
      <p:pic>
        <p:nvPicPr>
          <p:cNvPr descr="image.png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401" y="4184102"/>
            <a:ext cx="342891" cy="24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666733" y="380999"/>
            <a:ext cx="10858228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Orígenes de la Filatelia</a:t>
            </a:r>
            <a:endParaRPr/>
          </a:p>
        </p:txBody>
      </p:sp>
      <p:pic>
        <p:nvPicPr>
          <p:cNvPr descr="image.png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33" y="1511617"/>
            <a:ext cx="228594" cy="1771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990575" y="1171575"/>
            <a:ext cx="4914777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1840: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Aparece el primer sello postal del mundo, el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Penny Black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, emitido en Gran Bretaña </a:t>
            </a:r>
            <a:endParaRPr/>
          </a:p>
        </p:txBody>
      </p:sp>
      <p:pic>
        <p:nvPicPr>
          <p:cNvPr descr="image.png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3" y="2507932"/>
            <a:ext cx="228594" cy="1657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990575" y="2171700"/>
            <a:ext cx="4914777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Sir Rowland Hill: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Propuso la reforma postal que permitió crear sellos prepagados </a:t>
            </a:r>
            <a:endParaRPr/>
          </a:p>
        </p:txBody>
      </p:sp>
      <p:pic>
        <p:nvPicPr>
          <p:cNvPr descr="image.png" id="97" name="Google Shape;9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33" y="346519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990575" y="3152775"/>
            <a:ext cx="4914777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Revolución postal: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El pago por adelantado simplificó el sistema de correspondencia </a:t>
            </a:r>
            <a:endParaRPr/>
          </a:p>
        </p:txBody>
      </p:sp>
      <p:pic>
        <p:nvPicPr>
          <p:cNvPr descr="image.png" id="99" name="Google Shape;9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33" y="4589145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990575" y="4124324"/>
            <a:ext cx="4914777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Expansión: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En la década siguiente, países como Estados Unidos (1847), Brasil (1843) y otros naciones adoptaron el sistema 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381590" y="1266824"/>
            <a:ext cx="5048123" cy="470535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381590" y="5629275"/>
            <a:ext cx="5048123" cy="342900"/>
          </a:xfrm>
          <a:prstGeom prst="rect">
            <a:avLst/>
          </a:prstGeom>
          <a:solidFill>
            <a:srgbClr val="5D4037">
              <a:alpha val="8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381590" y="5629275"/>
            <a:ext cx="50481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Penny Black - Primer sello postal del mundo (1840)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66733" y="380999"/>
            <a:ext cx="10858228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Expansión de los Sellos Postales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66733" y="1219200"/>
            <a:ext cx="761980" cy="390525"/>
          </a:xfrm>
          <a:prstGeom prst="roundRect">
            <a:avLst>
              <a:gd fmla="val 50000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666733" y="1219200"/>
            <a:ext cx="7619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A1887F"/>
                </a:solidFill>
                <a:latin typeface="Calibri"/>
                <a:ea typeface="Calibri"/>
                <a:cs typeface="Calibri"/>
                <a:sym typeface="Calibri"/>
              </a:rPr>
              <a:t>1843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571585" y="1171575"/>
            <a:ext cx="4333766" cy="47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Brasil se convierte en el segundo país en emitir sellos postales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66733" y="1885950"/>
            <a:ext cx="761980" cy="390525"/>
          </a:xfrm>
          <a:prstGeom prst="roundRect">
            <a:avLst>
              <a:gd fmla="val 50000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66733" y="1885950"/>
            <a:ext cx="7619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A1887F"/>
                </a:solidFill>
                <a:latin typeface="Calibri"/>
                <a:ea typeface="Calibri"/>
                <a:cs typeface="Calibri"/>
                <a:sym typeface="Calibri"/>
              </a:rPr>
              <a:t>1847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1571585" y="1838324"/>
            <a:ext cx="4333766" cy="47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Estados Unidos lanza sus primeros sellos: 5¢ (Benjamin Franklin) y 10¢ (George Washington)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66733" y="2552700"/>
            <a:ext cx="761980" cy="390525"/>
          </a:xfrm>
          <a:prstGeom prst="roundRect">
            <a:avLst>
              <a:gd fmla="val 50000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66733" y="2552700"/>
            <a:ext cx="761980" cy="390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A1887F"/>
                </a:solidFill>
                <a:latin typeface="Calibri"/>
                <a:ea typeface="Calibri"/>
                <a:cs typeface="Calibri"/>
                <a:sym typeface="Calibri"/>
              </a:rPr>
              <a:t>1850s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571585" y="2505074"/>
            <a:ext cx="4333766" cy="47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Expansión a Asia y Oceanía: Tailandia, Corea, Nepal y Australia</a:t>
            </a:r>
            <a:endParaRPr/>
          </a:p>
        </p:txBody>
      </p:sp>
      <p:pic>
        <p:nvPicPr>
          <p:cNvPr descr="image.png"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33" y="3528059"/>
            <a:ext cx="228594" cy="12572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990575" y="3171825"/>
            <a:ext cx="49149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Explosión global: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Para 1860, más de 70 países habían adoptado el sistema de sellos postales </a:t>
            </a:r>
            <a:endParaRPr/>
          </a:p>
        </p:txBody>
      </p:sp>
      <p:pic>
        <p:nvPicPr>
          <p:cNvPr descr="image.png" id="120" name="Google Shape;1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3" y="4617720"/>
            <a:ext cx="228594" cy="194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990575" y="4143375"/>
            <a:ext cx="4914777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581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Evolución del diseño: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Los sellos pasaron de ser simples documentos postales a obras de arte que reflejan la cultura nacional 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832320" y="381000"/>
            <a:ext cx="2322900" cy="26310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601390" y="3171825"/>
            <a:ext cx="5048100" cy="342900"/>
          </a:xfrm>
          <a:prstGeom prst="rect">
            <a:avLst/>
          </a:prstGeom>
          <a:solidFill>
            <a:srgbClr val="5D4037">
              <a:alpha val="8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601390" y="3171825"/>
            <a:ext cx="50481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Sellos de avión de Estados Unidos - Muestra la evolución temática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608946" y="3809925"/>
            <a:ext cx="3033000" cy="26310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381590" y="10401300"/>
            <a:ext cx="5048123" cy="342900"/>
          </a:xfrm>
          <a:prstGeom prst="rect">
            <a:avLst/>
          </a:prstGeom>
          <a:solidFill>
            <a:srgbClr val="5D4037">
              <a:alpha val="80000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6381590" y="10401300"/>
            <a:ext cx="50481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Sellos de diferentes países - Diversidad cultural y diseño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/>
        </p:nvSpPr>
        <p:spPr>
          <a:xfrm>
            <a:off x="666733" y="380999"/>
            <a:ext cx="10858228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Black on Magenta: El Sello Más Raro del Mundo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933426" y="1733550"/>
            <a:ext cx="4714757" cy="3809999"/>
          </a:xfrm>
          <a:prstGeom prst="rect">
            <a:avLst/>
          </a:prstGeom>
          <a:solidFill>
            <a:srgbClr val="F8F0E8"/>
          </a:solidFill>
          <a:ln cap="flat" cmpd="sng" w="123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285942" y="2781300"/>
            <a:ext cx="2000199" cy="172402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247743" y="5695949"/>
            <a:ext cx="4086122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Black on Magenta - Emitido en la Guayana Británica, 1856</a:t>
            </a:r>
            <a:endParaRPr/>
          </a:p>
        </p:txBody>
      </p:sp>
      <p:pic>
        <p:nvPicPr>
          <p:cNvPr descr="image.png" id="136" name="Google Shape;1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342" y="1610139"/>
            <a:ext cx="266693" cy="20872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6695907" y="1581149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Origen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695907" y="1885950"/>
            <a:ext cx="48290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8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Emitido en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1856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en la Guayana Británica</a:t>
            </a:r>
            <a:endParaRPr/>
          </a:p>
        </p:txBody>
      </p:sp>
      <p:pic>
        <p:nvPicPr>
          <p:cNvPr descr="image.png" id="139" name="Google Shape;1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342" y="2458692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6695907" y="2438400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Rareza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695907" y="2762249"/>
            <a:ext cx="48290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8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Solo existe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un ejemplar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conocido en el mundo</a:t>
            </a:r>
            <a:endParaRPr/>
          </a:p>
        </p:txBody>
      </p:sp>
      <p:pic>
        <p:nvPicPr>
          <p:cNvPr descr="image.png" id="142" name="Google Shape;1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342" y="3334992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6695907" y="3314700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695907" y="3619499"/>
            <a:ext cx="48290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Sello rectangular con imagen de un barco</a:t>
            </a:r>
            <a:endParaRPr/>
          </a:p>
        </p:txBody>
      </p:sp>
      <p:pic>
        <p:nvPicPr>
          <p:cNvPr descr="image.png" id="145" name="Google Shape;145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342" y="4173192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6695907" y="4152899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Descubrimiento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695907" y="4457700"/>
            <a:ext cx="48290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8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Encontrado por un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coleccionista escolar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en 1873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6286342" y="5200650"/>
            <a:ext cx="5238619" cy="866775"/>
          </a:xfrm>
          <a:prstGeom prst="roundRect">
            <a:avLst>
              <a:gd fmla="val 17582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 rot="-5400000">
            <a:off x="5935505" y="5551487"/>
            <a:ext cx="866775" cy="165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A1887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6476838" y="5353049"/>
            <a:ext cx="490525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Valor Actual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476838" y="5657850"/>
            <a:ext cx="490525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Subastado en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9.5 millones de dólares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en 2014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/>
        </p:nvSpPr>
        <p:spPr>
          <a:xfrm>
            <a:off x="666733" y="380999"/>
            <a:ext cx="10858228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Jenny Invertida: El Error Famoso</a:t>
            </a:r>
            <a:endParaRPr/>
          </a:p>
        </p:txBody>
      </p:sp>
      <p:pic>
        <p:nvPicPr>
          <p:cNvPr descr="image.png"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33" y="1248189"/>
            <a:ext cx="266693" cy="208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1076298" y="1219200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Origen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1076298" y="1533525"/>
            <a:ext cx="48290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8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Emitido en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1918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por el Servicio Postal de EE.UU.</a:t>
            </a:r>
            <a:endParaRPr/>
          </a:p>
        </p:txBody>
      </p:sp>
      <p:pic>
        <p:nvPicPr>
          <p:cNvPr descr="image.png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33" y="2106267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 txBox="1"/>
          <p:nvPr/>
        </p:nvSpPr>
        <p:spPr>
          <a:xfrm>
            <a:off x="1076298" y="2085975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1076298" y="2400300"/>
            <a:ext cx="4829054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482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Muestra el avión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Curtiss JN-4 "Jenny"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, utilizado en el servicio de correo aéreo</a:t>
            </a:r>
            <a:endParaRPr/>
          </a:p>
        </p:txBody>
      </p:sp>
      <p:pic>
        <p:nvPicPr>
          <p:cNvPr descr="image.png" id="163" name="Google Shape;1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33" y="3267489"/>
            <a:ext cx="266693" cy="20872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1076298" y="3238500"/>
            <a:ext cx="4829054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Valor Facial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076298" y="3552825"/>
            <a:ext cx="4829054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24 centavos - Tarifa para el primer servicio de correo aéreo</a:t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66733" y="4267199"/>
            <a:ext cx="5238619" cy="1104900"/>
          </a:xfrm>
          <a:prstGeom prst="roundRect">
            <a:avLst>
              <a:gd fmla="val 13793" name="adj"/>
            </a:avLst>
          </a:prstGeom>
          <a:solidFill>
            <a:srgbClr val="B71C1C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 rot="-5400000">
            <a:off x="196833" y="4737099"/>
            <a:ext cx="1104900" cy="165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B71C1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57228" y="4410074"/>
            <a:ext cx="490525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1315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 Error de Impresión </a:t>
            </a:r>
            <a:endParaRPr/>
          </a:p>
        </p:txBody>
      </p:sp>
      <p:pic>
        <p:nvPicPr>
          <p:cNvPr descr="image.png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28" y="4430367"/>
            <a:ext cx="266693" cy="22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857228" y="4724399"/>
            <a:ext cx="4905252" cy="504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El avión aparece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volando boca abajo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debido a un error en la impresión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66733" y="5562600"/>
            <a:ext cx="5238619" cy="866775"/>
          </a:xfrm>
          <a:prstGeom prst="roundRect">
            <a:avLst>
              <a:gd fmla="val 17582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 rot="-5400000">
            <a:off x="315896" y="5913437"/>
            <a:ext cx="866775" cy="1651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A1887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57228" y="5705475"/>
            <a:ext cx="490525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5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Valor Actual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857228" y="6019800"/>
            <a:ext cx="4905252" cy="266699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Un ejemplar vendido por </a:t>
            </a:r>
            <a:r>
              <a:rPr b="1" i="0" lang="en-US" sz="1315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1.5 millones de dólares</a:t>
            </a:r>
            <a:r>
              <a:rPr b="0" i="0" lang="en-US" sz="1196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en 2016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553036" y="1733550"/>
            <a:ext cx="4714757" cy="3809999"/>
          </a:xfrm>
          <a:prstGeom prst="rect">
            <a:avLst/>
          </a:prstGeom>
          <a:solidFill>
            <a:srgbClr val="F8F0E8"/>
          </a:solidFill>
          <a:ln cap="flat" cmpd="sng" w="1238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914977" y="2314575"/>
            <a:ext cx="3990875" cy="265747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6724481" y="5695949"/>
            <a:ext cx="4371865" cy="219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6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Jenny Invertida - Sello postal de 24 centavos de EE.UU. (1918)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/>
        </p:nvSpPr>
        <p:spPr>
          <a:xfrm>
            <a:off x="666733" y="380999"/>
            <a:ext cx="108582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Comparación de Sellos Históricos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428727" y="1171725"/>
            <a:ext cx="3639300" cy="5451600"/>
          </a:xfrm>
          <a:prstGeom prst="roundRect">
            <a:avLst>
              <a:gd fmla="val 4000" name="adj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428727" y="1171725"/>
            <a:ext cx="3639300" cy="647700"/>
          </a:xfrm>
          <a:prstGeom prst="rect">
            <a:avLst/>
          </a:prstGeom>
          <a:solidFill>
            <a:srgbClr val="8D6E63"/>
          </a:solid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 txBox="1"/>
          <p:nvPr/>
        </p:nvSpPr>
        <p:spPr>
          <a:xfrm>
            <a:off x="1574295" y="1280904"/>
            <a:ext cx="33480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Penny Black</a:t>
            </a:r>
            <a:endParaRPr sz="1069"/>
          </a:p>
        </p:txBody>
      </p:sp>
      <p:sp>
        <p:nvSpPr>
          <p:cNvPr id="186" name="Google Shape;186;p6"/>
          <p:cNvSpPr txBox="1"/>
          <p:nvPr/>
        </p:nvSpPr>
        <p:spPr>
          <a:xfrm>
            <a:off x="1574295" y="1542934"/>
            <a:ext cx="33480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Primer sello postal del mundo</a:t>
            </a:r>
            <a:endParaRPr sz="1069"/>
          </a:p>
        </p:txBody>
      </p:sp>
      <p:sp>
        <p:nvSpPr>
          <p:cNvPr id="187" name="Google Shape;187;p6"/>
          <p:cNvSpPr/>
          <p:nvPr/>
        </p:nvSpPr>
        <p:spPr>
          <a:xfrm>
            <a:off x="1428727" y="1819520"/>
            <a:ext cx="3639300" cy="1819800"/>
          </a:xfrm>
          <a:prstGeom prst="rect">
            <a:avLst/>
          </a:prstGeom>
          <a:solidFill>
            <a:srgbClr val="F8F0E8"/>
          </a:solid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2702450" y="2037878"/>
            <a:ext cx="1091700" cy="1375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295" y="3804394"/>
            <a:ext cx="174682" cy="13538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1821761" y="3784742"/>
            <a:ext cx="31005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sz="1069"/>
          </a:p>
        </p:txBody>
      </p:sp>
      <p:sp>
        <p:nvSpPr>
          <p:cNvPr id="191" name="Google Shape;191;p6"/>
          <p:cNvSpPr txBox="1"/>
          <p:nvPr/>
        </p:nvSpPr>
        <p:spPr>
          <a:xfrm>
            <a:off x="1821761" y="3973985"/>
            <a:ext cx="1149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3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 de mayo de 1840</a:t>
            </a:r>
            <a:endParaRPr sz="1069"/>
          </a:p>
        </p:txBody>
      </p:sp>
      <p:pic>
        <p:nvPicPr>
          <p:cNvPr descr="image.png" id="192" name="Google Shape;19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4295" y="4289149"/>
            <a:ext cx="174682" cy="12664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6"/>
          <p:cNvSpPr txBox="1"/>
          <p:nvPr/>
        </p:nvSpPr>
        <p:spPr>
          <a:xfrm>
            <a:off x="1821761" y="4265130"/>
            <a:ext cx="31005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Diseñador</a:t>
            </a:r>
            <a:endParaRPr sz="1069"/>
          </a:p>
        </p:txBody>
      </p:sp>
      <p:sp>
        <p:nvSpPr>
          <p:cNvPr id="194" name="Google Shape;194;p6"/>
          <p:cNvSpPr txBox="1"/>
          <p:nvPr/>
        </p:nvSpPr>
        <p:spPr>
          <a:xfrm>
            <a:off x="1821761" y="4454373"/>
            <a:ext cx="3100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Sir Rowland Hill</a:t>
            </a:r>
            <a:endParaRPr sz="1069"/>
          </a:p>
        </p:txBody>
      </p:sp>
      <p:pic>
        <p:nvPicPr>
          <p:cNvPr descr="image.png" id="195" name="Google Shape;1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4295" y="4758619"/>
            <a:ext cx="174682" cy="1484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 txBox="1"/>
          <p:nvPr/>
        </p:nvSpPr>
        <p:spPr>
          <a:xfrm>
            <a:off x="1821761" y="4745518"/>
            <a:ext cx="31005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sz="1069"/>
          </a:p>
        </p:txBody>
      </p:sp>
      <p:sp>
        <p:nvSpPr>
          <p:cNvPr id="197" name="Google Shape;197;p6"/>
          <p:cNvSpPr txBox="1"/>
          <p:nvPr/>
        </p:nvSpPr>
        <p:spPr>
          <a:xfrm>
            <a:off x="1821761" y="4934760"/>
            <a:ext cx="3100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Perfil de la Reina Victoria</a:t>
            </a:r>
            <a:endParaRPr sz="1069"/>
          </a:p>
        </p:txBody>
      </p:sp>
      <p:pic>
        <p:nvPicPr>
          <p:cNvPr descr="image.png" id="198" name="Google Shape;1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4295" y="5239007"/>
            <a:ext cx="174682" cy="1484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1821761" y="5225905"/>
            <a:ext cx="31005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1069"/>
          </a:p>
        </p:txBody>
      </p:sp>
      <p:sp>
        <p:nvSpPr>
          <p:cNvPr id="200" name="Google Shape;200;p6"/>
          <p:cNvSpPr txBox="1"/>
          <p:nvPr/>
        </p:nvSpPr>
        <p:spPr>
          <a:xfrm>
            <a:off x="1821761" y="5415148"/>
            <a:ext cx="3100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1 penique</a:t>
            </a:r>
            <a:endParaRPr sz="1069"/>
          </a:p>
        </p:txBody>
      </p:sp>
      <p:sp>
        <p:nvSpPr>
          <p:cNvPr id="201" name="Google Shape;201;p6"/>
          <p:cNvSpPr/>
          <p:nvPr/>
        </p:nvSpPr>
        <p:spPr>
          <a:xfrm>
            <a:off x="1574295" y="5706293"/>
            <a:ext cx="3348000" cy="771600"/>
          </a:xfrm>
          <a:prstGeom prst="roundRect">
            <a:avLst>
              <a:gd fmla="val 15094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 rot="-5400000">
            <a:off x="1251645" y="6028873"/>
            <a:ext cx="771600" cy="126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A1887F"/>
          </a:solidFill>
          <a:ln>
            <a:noFill/>
          </a:ln>
          <a:effectLst>
            <a:outerShdw blurRad="30566" rotWithShape="0" dir="5400000" dist="17576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1719863" y="5815472"/>
            <a:ext cx="30933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Importancia histórica </a:t>
            </a:r>
            <a:endParaRPr sz="1069"/>
          </a:p>
        </p:txBody>
      </p:sp>
      <p:pic>
        <p:nvPicPr>
          <p:cNvPr descr="image.png" id="204" name="Google Shape;204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9863" y="5833569"/>
            <a:ext cx="160125" cy="13849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1719863" y="6033829"/>
            <a:ext cx="3093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822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Revolucionó</a:t>
            </a:r>
            <a:r>
              <a:rPr b="0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el sistema postal mundial al introducir el prepago </a:t>
            </a:r>
            <a:endParaRPr sz="1069"/>
          </a:p>
        </p:txBody>
      </p:sp>
      <p:sp>
        <p:nvSpPr>
          <p:cNvPr id="206" name="Google Shape;206;p6"/>
          <p:cNvSpPr/>
          <p:nvPr/>
        </p:nvSpPr>
        <p:spPr>
          <a:xfrm>
            <a:off x="5810104" y="1171575"/>
            <a:ext cx="571485" cy="571500"/>
          </a:xfrm>
          <a:prstGeom prst="roundRect">
            <a:avLst>
              <a:gd fmla="val 50000" name="adj"/>
            </a:avLst>
          </a:prstGeom>
          <a:solidFill>
            <a:srgbClr val="8D6E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5810104" y="1171575"/>
            <a:ext cx="571485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73150" spcFirstLastPara="1" rIns="73150" wrap="square" tIns="54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076798" y="1838324"/>
            <a:ext cx="38099" cy="6467474"/>
          </a:xfrm>
          <a:prstGeom prst="roundRect">
            <a:avLst>
              <a:gd fmla="val 100000" name="adj"/>
            </a:avLst>
          </a:prstGeom>
          <a:solidFill>
            <a:srgbClr val="8D6E63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202176" y="1171575"/>
            <a:ext cx="3639300" cy="5451900"/>
          </a:xfrm>
          <a:prstGeom prst="roundRect">
            <a:avLst>
              <a:gd fmla="val 4000" name="adj"/>
            </a:avLst>
          </a:prstGeom>
          <a:solidFill>
            <a:srgbClr val="FFFFFF">
              <a:alpha val="69803"/>
            </a:srgbClr>
          </a:solid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202176" y="1171575"/>
            <a:ext cx="3639300" cy="647700"/>
          </a:xfrm>
          <a:prstGeom prst="rect">
            <a:avLst/>
          </a:prstGeom>
          <a:solidFill>
            <a:srgbClr val="8D6E63"/>
          </a:solid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347754" y="1280760"/>
            <a:ext cx="33483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Blue Mauritius</a:t>
            </a:r>
            <a:endParaRPr sz="1069"/>
          </a:p>
        </p:txBody>
      </p:sp>
      <p:sp>
        <p:nvSpPr>
          <p:cNvPr id="212" name="Google Shape;212;p6"/>
          <p:cNvSpPr txBox="1"/>
          <p:nvPr/>
        </p:nvSpPr>
        <p:spPr>
          <a:xfrm>
            <a:off x="7347754" y="1542804"/>
            <a:ext cx="33483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Uno de los sellos más raros</a:t>
            </a:r>
            <a:endParaRPr sz="1069"/>
          </a:p>
        </p:txBody>
      </p:sp>
      <p:sp>
        <p:nvSpPr>
          <p:cNvPr id="213" name="Google Shape;213;p6"/>
          <p:cNvSpPr/>
          <p:nvPr/>
        </p:nvSpPr>
        <p:spPr>
          <a:xfrm>
            <a:off x="7202176" y="1819406"/>
            <a:ext cx="3639300" cy="1819800"/>
          </a:xfrm>
          <a:prstGeom prst="rect">
            <a:avLst/>
          </a:prstGeom>
          <a:solidFill>
            <a:srgbClr val="F8F0E8"/>
          </a:solid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857273" y="2037776"/>
            <a:ext cx="2329200" cy="1375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7754" y="3804391"/>
            <a:ext cx="174692" cy="13538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7595235" y="3784738"/>
            <a:ext cx="3100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Fecha</a:t>
            </a:r>
            <a:endParaRPr sz="1069"/>
          </a:p>
        </p:txBody>
      </p:sp>
      <p:sp>
        <p:nvSpPr>
          <p:cNvPr id="217" name="Google Shape;217;p6"/>
          <p:cNvSpPr txBox="1"/>
          <p:nvPr/>
        </p:nvSpPr>
        <p:spPr>
          <a:xfrm>
            <a:off x="7595235" y="3973991"/>
            <a:ext cx="298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3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1847</a:t>
            </a:r>
            <a:endParaRPr sz="1069"/>
          </a:p>
        </p:txBody>
      </p:sp>
      <p:pic>
        <p:nvPicPr>
          <p:cNvPr descr="image.png" id="218" name="Google Shape;21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47754" y="4278254"/>
            <a:ext cx="174692" cy="14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6"/>
          <p:cNvSpPr txBox="1"/>
          <p:nvPr/>
        </p:nvSpPr>
        <p:spPr>
          <a:xfrm>
            <a:off x="7595235" y="4265152"/>
            <a:ext cx="3100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País</a:t>
            </a:r>
            <a:endParaRPr sz="1069"/>
          </a:p>
        </p:txBody>
      </p:sp>
      <p:sp>
        <p:nvSpPr>
          <p:cNvPr id="220" name="Google Shape;220;p6"/>
          <p:cNvSpPr txBox="1"/>
          <p:nvPr/>
        </p:nvSpPr>
        <p:spPr>
          <a:xfrm>
            <a:off x="7595235" y="4454406"/>
            <a:ext cx="3100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Isla Mauricio</a:t>
            </a:r>
            <a:endParaRPr sz="1069"/>
          </a:p>
        </p:txBody>
      </p:sp>
      <p:pic>
        <p:nvPicPr>
          <p:cNvPr descr="image.png" id="221" name="Google Shape;22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47754" y="4758669"/>
            <a:ext cx="174692" cy="14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 txBox="1"/>
          <p:nvPr/>
        </p:nvSpPr>
        <p:spPr>
          <a:xfrm>
            <a:off x="7595235" y="4745567"/>
            <a:ext cx="3100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 sz="1069"/>
          </a:p>
        </p:txBody>
      </p:sp>
      <p:sp>
        <p:nvSpPr>
          <p:cNvPr id="223" name="Google Shape;223;p6"/>
          <p:cNvSpPr txBox="1"/>
          <p:nvPr/>
        </p:nvSpPr>
        <p:spPr>
          <a:xfrm>
            <a:off x="7595235" y="4934820"/>
            <a:ext cx="3100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Perfil de la Reina Victoria</a:t>
            </a:r>
            <a:endParaRPr sz="1069"/>
          </a:p>
        </p:txBody>
      </p:sp>
      <p:pic>
        <p:nvPicPr>
          <p:cNvPr descr="image.png" id="224" name="Google Shape;22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7754" y="5239083"/>
            <a:ext cx="174692" cy="14849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"/>
          <p:cNvSpPr txBox="1"/>
          <p:nvPr/>
        </p:nvSpPr>
        <p:spPr>
          <a:xfrm>
            <a:off x="7595235" y="5225981"/>
            <a:ext cx="3100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Valor</a:t>
            </a:r>
            <a:endParaRPr sz="1069"/>
          </a:p>
        </p:txBody>
      </p:sp>
      <p:sp>
        <p:nvSpPr>
          <p:cNvPr id="226" name="Google Shape;226;p6"/>
          <p:cNvSpPr txBox="1"/>
          <p:nvPr/>
        </p:nvSpPr>
        <p:spPr>
          <a:xfrm>
            <a:off x="7595235" y="5415234"/>
            <a:ext cx="31008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2 peniques</a:t>
            </a:r>
            <a:endParaRPr sz="1069"/>
          </a:p>
        </p:txBody>
      </p:sp>
      <p:sp>
        <p:nvSpPr>
          <p:cNvPr id="227" name="Google Shape;227;p6"/>
          <p:cNvSpPr/>
          <p:nvPr/>
        </p:nvSpPr>
        <p:spPr>
          <a:xfrm>
            <a:off x="7347754" y="5706395"/>
            <a:ext cx="3348300" cy="771600"/>
          </a:xfrm>
          <a:prstGeom prst="roundRect">
            <a:avLst>
              <a:gd fmla="val 15094" name="adj"/>
            </a:avLst>
          </a:prstGeom>
          <a:solidFill>
            <a:srgbClr val="A1887F">
              <a:alpha val="9803"/>
            </a:srgbClr>
          </a:solid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 rot="-5400000">
            <a:off x="7025104" y="6029019"/>
            <a:ext cx="771600" cy="126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A1887F"/>
          </a:solidFill>
          <a:ln>
            <a:noFill/>
          </a:ln>
          <a:effectLst>
            <a:outerShdw blurRad="30568" rotWithShape="0" dir="5400000" dist="17577">
              <a:srgbClr val="000000">
                <a:alpha val="34901"/>
              </a:srgbClr>
            </a:outerShdw>
          </a:effectLst>
        </p:spPr>
        <p:txBody>
          <a:bodyPr anchorCtr="0" anchor="ctr" bIns="34925" lIns="69875" spcFirstLastPara="1" rIns="69875" wrap="square" tIns="34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7493331" y="5815580"/>
            <a:ext cx="30936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84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913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Importancia histórica </a:t>
            </a:r>
            <a:endParaRPr sz="1069"/>
          </a:p>
        </p:txBody>
      </p:sp>
      <p:pic>
        <p:nvPicPr>
          <p:cNvPr descr="image.png" id="230" name="Google Shape;23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93331" y="5833679"/>
            <a:ext cx="160134" cy="138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6"/>
          <p:cNvSpPr txBox="1"/>
          <p:nvPr/>
        </p:nvSpPr>
        <p:spPr>
          <a:xfrm>
            <a:off x="7493331" y="6033950"/>
            <a:ext cx="30936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925" lIns="55900" spcFirstLastPara="1" rIns="55900" wrap="square" tIns="41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 Solo se conocen </a:t>
            </a:r>
            <a:r>
              <a:rPr b="1" i="0" lang="en-US" sz="822" u="none" cap="none" strike="noStrike">
                <a:solidFill>
                  <a:srgbClr val="795548"/>
                </a:solidFill>
                <a:latin typeface="Calibri"/>
                <a:ea typeface="Calibri"/>
                <a:cs typeface="Calibri"/>
                <a:sym typeface="Calibri"/>
              </a:rPr>
              <a:t>12 ejemplares</a:t>
            </a:r>
            <a:r>
              <a:rPr b="0" i="0" lang="en-US" sz="822" u="none" cap="none" strike="noStrike">
                <a:solidFill>
                  <a:srgbClr val="5D4037"/>
                </a:solidFill>
                <a:latin typeface="Calibri"/>
                <a:ea typeface="Calibri"/>
                <a:cs typeface="Calibri"/>
                <a:sym typeface="Calibri"/>
              </a:rPr>
              <a:t>, valorados en millones de dólares </a:t>
            </a:r>
            <a:endParaRPr sz="106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